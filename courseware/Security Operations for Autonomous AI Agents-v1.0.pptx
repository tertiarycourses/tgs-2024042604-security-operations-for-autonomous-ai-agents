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.xml" ContentType="application/vnd.openxmlformats-officedocument.drawingml.chart+xml"/>
  <Override PartName="/ppt/charts/chart20.xml" ContentType="application/vnd.openxmlformats-officedocument.drawingml.chart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.xml" ContentType="application/vnd.openxmlformats-officedocument.drawingml.chart+xml"/>
  <Override PartName="/ppt/charts/chart30.xml" ContentType="application/vnd.openxmlformats-officedocument.drawingml.chart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.xml" ContentType="application/vnd.openxmlformats-officedocument.drawingml.chart+xml"/>
  <Override PartName="/ppt/charts/chart40.xml" ContentType="application/vnd.openxmlformats-officedocument.drawingml.chart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.xml" ContentType="application/vnd.openxmlformats-officedocument.drawingml.chart+xml"/>
  <Override PartName="/ppt/charts/chart50.xml" ContentType="application/vnd.openxmlformats-officedocument.drawingml.chart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.xml" ContentType="application/vnd.openxmlformats-officedocument.drawingml.chart+xml"/>
  <Override PartName="/ppt/charts/chart60.xml" ContentType="application/vnd.openxmlformats-officedocument.drawingml.chart+xml"/>
  <Override PartName="/ppt/charts/chart61.xml" ContentType="application/vnd.openxmlformats-officedocument.drawingml.chart+xml"/>
  <Override PartName="/ppt/charts/chart62.xml" ContentType="application/vnd.openxmlformats-officedocument.drawingml.chart+xml"/>
  <Override PartName="/ppt/charts/chart63.xml" ContentType="application/vnd.openxmlformats-officedocument.drawingml.chart+xml"/>
  <Override PartName="/ppt/charts/chart64.xml" ContentType="application/vnd.openxmlformats-officedocument.drawingml.chart+xml"/>
  <Override PartName="/ppt/charts/chart65.xml" ContentType="application/vnd.openxmlformats-officedocument.drawingml.chart+xml"/>
  <Override PartName="/ppt/charts/chart66.xml" ContentType="application/vnd.openxmlformats-officedocument.drawingml.chart+xml"/>
  <Override PartName="/ppt/charts/chart67.xml" ContentType="application/vnd.openxmlformats-officedocument.drawingml.chart+xml"/>
  <Override PartName="/ppt/charts/chart68.xml" ContentType="application/vnd.openxmlformats-officedocument.drawingml.chart+xml"/>
  <Override PartName="/ppt/charts/chart69.xml" ContentType="application/vnd.openxmlformats-officedocument.drawingml.chart+xml"/>
  <Override PartName="/ppt/charts/chart7.xml" ContentType="application/vnd.openxmlformats-officedocument.drawingml.chart+xml"/>
  <Override PartName="/ppt/charts/chart70.xml" ContentType="application/vnd.openxmlformats-officedocument.drawingml.chart+xml"/>
  <Override PartName="/ppt/charts/chart71.xml" ContentType="application/vnd.openxmlformats-officedocument.drawingml.chart+xml"/>
  <Override PartName="/ppt/charts/chart72.xml" ContentType="application/vnd.openxmlformats-officedocument.drawingml.chart+xml"/>
  <Override PartName="/ppt/charts/chart73.xml" ContentType="application/vnd.openxmlformats-officedocument.drawingml.chart+xml"/>
  <Override PartName="/ppt/charts/chart74.xml" ContentType="application/vnd.openxmlformats-officedocument.drawingml.chart+xml"/>
  <Override PartName="/ppt/charts/chart75.xml" ContentType="application/vnd.openxmlformats-officedocument.drawingml.chart+xml"/>
  <Override PartName="/ppt/charts/chart76.xml" ContentType="application/vnd.openxmlformats-officedocument.drawingml.chart+xml"/>
  <Override PartName="/ppt/charts/chart77.xml" ContentType="application/vnd.openxmlformats-officedocument.drawingml.chart+xml"/>
  <Override PartName="/ppt/charts/chart78.xml" ContentType="application/vnd.openxmlformats-officedocument.drawingml.chart+xml"/>
  <Override PartName="/ppt/charts/chart79.xml" ContentType="application/vnd.openxmlformats-officedocument.drawingml.chart+xml"/>
  <Override PartName="/ppt/charts/chart8.xml" ContentType="application/vnd.openxmlformats-officedocument.drawingml.chart+xml"/>
  <Override PartName="/ppt/charts/chart80.xml" ContentType="application/vnd.openxmlformats-officedocument.drawingml.chart+xml"/>
  <Override PartName="/ppt/charts/chart81.xml" ContentType="application/vnd.openxmlformats-officedocument.drawingml.chart+xml"/>
  <Override PartName="/ppt/charts/chart82.xml" ContentType="application/vnd.openxmlformats-officedocument.drawingml.chart+xml"/>
  <Override PartName="/ppt/charts/chart83.xml" ContentType="application/vnd.openxmlformats-officedocument.drawingml.chart+xml"/>
  <Override PartName="/ppt/charts/chart84.xml" ContentType="application/vnd.openxmlformats-officedocument.drawingml.chart+xml"/>
  <Override PartName="/ppt/charts/chart85.xml" ContentType="application/vnd.openxmlformats-officedocument.drawingml.chart+xml"/>
  <Override PartName="/ppt/charts/chart86.xml" ContentType="application/vnd.openxmlformats-officedocument.drawingml.chart+xml"/>
  <Override PartName="/ppt/charts/chart87.xml" ContentType="application/vnd.openxmlformats-officedocument.drawingml.chart+xml"/>
  <Override PartName="/ppt/charts/chart88.xml" ContentType="application/vnd.openxmlformats-officedocument.drawingml.chart+xml"/>
  <Override PartName="/ppt/charts/chart89.xml" ContentType="application/vnd.openxmlformats-officedocument.drawingml.chart+xml"/>
  <Override PartName="/ppt/charts/chart9.xml" ContentType="application/vnd.openxmlformats-officedocument.drawingml.chart+xml"/>
  <Override PartName="/ppt/charts/chart90.xml" ContentType="application/vnd.openxmlformats-officedocument.drawingml.chart+xml"/>
  <Override PartName="/ppt/charts/chart91.xml" ContentType="application/vnd.openxmlformats-officedocument.drawingml.chart+xml"/>
  <Override PartName="/ppt/charts/chart92.xml" ContentType="application/vnd.openxmlformats-officedocument.drawingml.chart+xml"/>
  <Override PartName="/ppt/charts/chart93.xml" ContentType="application/vnd.openxmlformats-officedocument.drawingml.chart+xml"/>
  <Override PartName="/ppt/charts/chart94.xml" ContentType="application/vnd.openxmlformats-officedocument.drawingml.chart+xml"/>
  <Override PartName="/ppt/charts/chart95.xml" ContentType="application/vnd.openxmlformats-officedocument.drawingml.chart+xml"/>
  <Override PartName="/ppt/charts/chart9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00.xml" ContentType="application/vnd.openxmlformats-officedocument.presentationml.slide+xml"/>
  <Override PartName="/ppt/slides/slide401.xml" ContentType="application/vnd.openxmlformats-officedocument.presentationml.slide+xml"/>
  <Override PartName="/ppt/slides/slide402.xml" ContentType="application/vnd.openxmlformats-officedocument.presentationml.slide+xml"/>
  <Override PartName="/ppt/slides/slide403.xml" ContentType="application/vnd.openxmlformats-officedocument.presentationml.slide+xml"/>
  <Override PartName="/ppt/slides/slide404.xml" ContentType="application/vnd.openxmlformats-officedocument.presentationml.slide+xml"/>
  <Override PartName="/ppt/slides/slide405.xml" ContentType="application/vnd.openxmlformats-officedocument.presentationml.slide+xml"/>
  <Override PartName="/ppt/slides/slide406.xml" ContentType="application/vnd.openxmlformats-officedocument.presentationml.slide+xml"/>
  <Override PartName="/ppt/slides/slide407.xml" ContentType="application/vnd.openxmlformats-officedocument.presentationml.slide+xml"/>
  <Override PartName="/ppt/slides/slide408.xml" ContentType="application/vnd.openxmlformats-officedocument.presentationml.slide+xml"/>
  <Override PartName="/ppt/slides/slide409.xml" ContentType="application/vnd.openxmlformats-officedocument.presentationml.slide+xml"/>
  <Override PartName="/ppt/slides/slide41.xml" ContentType="application/vnd.openxmlformats-officedocument.presentationml.slide+xml"/>
  <Override PartName="/ppt/slides/slide410.xml" ContentType="application/vnd.openxmlformats-officedocument.presentationml.slide+xml"/>
  <Override PartName="/ppt/slides/slide411.xml" ContentType="application/vnd.openxmlformats-officedocument.presentationml.slide+xml"/>
  <Override PartName="/ppt/slides/slide412.xml" ContentType="application/vnd.openxmlformats-officedocument.presentationml.slide+xml"/>
  <Override PartName="/ppt/slides/slide413.xml" ContentType="application/vnd.openxmlformats-officedocument.presentationml.slide+xml"/>
  <Override PartName="/ppt/slides/slide414.xml" ContentType="application/vnd.openxmlformats-officedocument.presentationml.slide+xml"/>
  <Override PartName="/ppt/slides/slide415.xml" ContentType="application/vnd.openxmlformats-officedocument.presentationml.slide+xml"/>
  <Override PartName="/ppt/slides/slide416.xml" ContentType="application/vnd.openxmlformats-officedocument.presentationml.slide+xml"/>
  <Override PartName="/ppt/slides/slide417.xml" ContentType="application/vnd.openxmlformats-officedocument.presentationml.slide+xml"/>
  <Override PartName="/ppt/slides/slide418.xml" ContentType="application/vnd.openxmlformats-officedocument.presentationml.slide+xml"/>
  <Override PartName="/ppt/slides/slide419.xml" ContentType="application/vnd.openxmlformats-officedocument.presentationml.slide+xml"/>
  <Override PartName="/ppt/slides/slide42.xml" ContentType="application/vnd.openxmlformats-officedocument.presentationml.slide+xml"/>
  <Override PartName="/ppt/slides/slide420.xml" ContentType="application/vnd.openxmlformats-officedocument.presentationml.slide+xml"/>
  <Override PartName="/ppt/slides/slide421.xml" ContentType="application/vnd.openxmlformats-officedocument.presentationml.slide+xml"/>
  <Override PartName="/ppt/slides/slide422.xml" ContentType="application/vnd.openxmlformats-officedocument.presentationml.slide+xml"/>
  <Override PartName="/ppt/slides/slide423.xml" ContentType="application/vnd.openxmlformats-officedocument.presentationml.slide+xml"/>
  <Override PartName="/ppt/slides/slide424.xml" ContentType="application/vnd.openxmlformats-officedocument.presentationml.slide+xml"/>
  <Override PartName="/ppt/slides/slide425.xml" ContentType="application/vnd.openxmlformats-officedocument.presentationml.slide+xml"/>
  <Override PartName="/ppt/slides/slide426.xml" ContentType="application/vnd.openxmlformats-officedocument.presentationml.slide+xml"/>
  <Override PartName="/ppt/slides/slide427.xml" ContentType="application/vnd.openxmlformats-officedocument.presentationml.slide+xml"/>
  <Override PartName="/ppt/slides/slide428.xml" ContentType="application/vnd.openxmlformats-officedocument.presentationml.slide+xml"/>
  <Override PartName="/ppt/slides/slide429.xml" ContentType="application/vnd.openxmlformats-officedocument.presentationml.slide+xml"/>
  <Override PartName="/ppt/slides/slide43.xml" ContentType="application/vnd.openxmlformats-officedocument.presentationml.slide+xml"/>
  <Override PartName="/ppt/slides/slide430.xml" ContentType="application/vnd.openxmlformats-officedocument.presentationml.slide+xml"/>
  <Override PartName="/ppt/slides/slide431.xml" ContentType="application/vnd.openxmlformats-officedocument.presentationml.slide+xml"/>
  <Override PartName="/ppt/slides/slide432.xml" ContentType="application/vnd.openxmlformats-officedocument.presentationml.slide+xml"/>
  <Override PartName="/ppt/slides/slide433.xml" ContentType="application/vnd.openxmlformats-officedocument.presentationml.slide+xml"/>
  <Override PartName="/ppt/slides/slide434.xml" ContentType="application/vnd.openxmlformats-officedocument.presentationml.slide+xml"/>
  <Override PartName="/ppt/slides/slide435.xml" ContentType="application/vnd.openxmlformats-officedocument.presentationml.slide+xml"/>
  <Override PartName="/ppt/slides/slide436.xml" ContentType="application/vnd.openxmlformats-officedocument.presentationml.slide+xml"/>
  <Override PartName="/ppt/slides/slide437.xml" ContentType="application/vnd.openxmlformats-officedocument.presentationml.slide+xml"/>
  <Override PartName="/ppt/slides/slide438.xml" ContentType="application/vnd.openxmlformats-officedocument.presentationml.slide+xml"/>
  <Override PartName="/ppt/slides/slide439.xml" ContentType="application/vnd.openxmlformats-officedocument.presentationml.slide+xml"/>
  <Override PartName="/ppt/slides/slide44.xml" ContentType="application/vnd.openxmlformats-officedocument.presentationml.slide+xml"/>
  <Override PartName="/ppt/slides/slide440.xml" ContentType="application/vnd.openxmlformats-officedocument.presentationml.slide+xml"/>
  <Override PartName="/ppt/slides/slide441.xml" ContentType="application/vnd.openxmlformats-officedocument.presentationml.slide+xml"/>
  <Override PartName="/ppt/slides/slide442.xml" ContentType="application/vnd.openxmlformats-officedocument.presentationml.slide+xml"/>
  <Override PartName="/ppt/slides/slide443.xml" ContentType="application/vnd.openxmlformats-officedocument.presentationml.slide+xml"/>
  <Override PartName="/ppt/slides/slide444.xml" ContentType="application/vnd.openxmlformats-officedocument.presentationml.slide+xml"/>
  <Override PartName="/ppt/slides/slide445.xml" ContentType="application/vnd.openxmlformats-officedocument.presentationml.slide+xml"/>
  <Override PartName="/ppt/slides/slide446.xml" ContentType="application/vnd.openxmlformats-officedocument.presentationml.slide+xml"/>
  <Override PartName="/ppt/slides/slide447.xml" ContentType="application/vnd.openxmlformats-officedocument.presentationml.slide+xml"/>
  <Override PartName="/ppt/slides/slide448.xml" ContentType="application/vnd.openxmlformats-officedocument.presentationml.slide+xml"/>
  <Override PartName="/ppt/slides/slide449.xml" ContentType="application/vnd.openxmlformats-officedocument.presentationml.slide+xml"/>
  <Override PartName="/ppt/slides/slide45.xml" ContentType="application/vnd.openxmlformats-officedocument.presentationml.slide+xml"/>
  <Override PartName="/ppt/slides/slide450.xml" ContentType="application/vnd.openxmlformats-officedocument.presentationml.slide+xml"/>
  <Override PartName="/ppt/slides/slide451.xml" ContentType="application/vnd.openxmlformats-officedocument.presentationml.slide+xml"/>
  <Override PartName="/ppt/slides/slide452.xml" ContentType="application/vnd.openxmlformats-officedocument.presentationml.slide+xml"/>
  <Override PartName="/ppt/slides/slide453.xml" ContentType="application/vnd.openxmlformats-officedocument.presentationml.slide+xml"/>
  <Override PartName="/ppt/slides/slide454.xml" ContentType="application/vnd.openxmlformats-officedocument.presentationml.slide+xml"/>
  <Override PartName="/ppt/slides/slide45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710" r:id="rId46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  <p:sldId id="443" r:id="rId194"/>
    <p:sldId id="444" r:id="rId195"/>
    <p:sldId id="445" r:id="rId196"/>
    <p:sldId id="446" r:id="rId197"/>
    <p:sldId id="447" r:id="rId198"/>
    <p:sldId id="448" r:id="rId199"/>
    <p:sldId id="449" r:id="rId200"/>
    <p:sldId id="450" r:id="rId201"/>
    <p:sldId id="451" r:id="rId202"/>
    <p:sldId id="452" r:id="rId203"/>
    <p:sldId id="453" r:id="rId204"/>
    <p:sldId id="454" r:id="rId205"/>
    <p:sldId id="455" r:id="rId206"/>
    <p:sldId id="456" r:id="rId207"/>
    <p:sldId id="457" r:id="rId208"/>
    <p:sldId id="458" r:id="rId209"/>
    <p:sldId id="459" r:id="rId210"/>
    <p:sldId id="460" r:id="rId211"/>
    <p:sldId id="461" r:id="rId212"/>
    <p:sldId id="462" r:id="rId213"/>
    <p:sldId id="463" r:id="rId214"/>
    <p:sldId id="464" r:id="rId215"/>
    <p:sldId id="465" r:id="rId216"/>
    <p:sldId id="466" r:id="rId217"/>
    <p:sldId id="467" r:id="rId218"/>
    <p:sldId id="468" r:id="rId219"/>
    <p:sldId id="469" r:id="rId220"/>
    <p:sldId id="470" r:id="rId221"/>
    <p:sldId id="471" r:id="rId222"/>
    <p:sldId id="472" r:id="rId223"/>
    <p:sldId id="473" r:id="rId224"/>
    <p:sldId id="474" r:id="rId225"/>
    <p:sldId id="475" r:id="rId226"/>
    <p:sldId id="476" r:id="rId227"/>
    <p:sldId id="477" r:id="rId228"/>
    <p:sldId id="478" r:id="rId229"/>
    <p:sldId id="479" r:id="rId230"/>
    <p:sldId id="480" r:id="rId231"/>
    <p:sldId id="481" r:id="rId232"/>
    <p:sldId id="482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491" r:id="rId242"/>
    <p:sldId id="492" r:id="rId243"/>
    <p:sldId id="493" r:id="rId244"/>
    <p:sldId id="494" r:id="rId245"/>
    <p:sldId id="495" r:id="rId246"/>
    <p:sldId id="496" r:id="rId247"/>
    <p:sldId id="497" r:id="rId248"/>
    <p:sldId id="498" r:id="rId249"/>
    <p:sldId id="499" r:id="rId250"/>
    <p:sldId id="500" r:id="rId251"/>
    <p:sldId id="501" r:id="rId252"/>
    <p:sldId id="502" r:id="rId253"/>
    <p:sldId id="503" r:id="rId254"/>
    <p:sldId id="504" r:id="rId255"/>
    <p:sldId id="505" r:id="rId256"/>
    <p:sldId id="506" r:id="rId257"/>
    <p:sldId id="507" r:id="rId258"/>
    <p:sldId id="508" r:id="rId259"/>
    <p:sldId id="509" r:id="rId260"/>
    <p:sldId id="510" r:id="rId261"/>
    <p:sldId id="511" r:id="rId262"/>
    <p:sldId id="512" r:id="rId263"/>
    <p:sldId id="513" r:id="rId264"/>
    <p:sldId id="514" r:id="rId265"/>
    <p:sldId id="515" r:id="rId266"/>
    <p:sldId id="516" r:id="rId267"/>
    <p:sldId id="517" r:id="rId268"/>
    <p:sldId id="518" r:id="rId269"/>
    <p:sldId id="519" r:id="rId270"/>
    <p:sldId id="520" r:id="rId271"/>
    <p:sldId id="521" r:id="rId272"/>
    <p:sldId id="522" r:id="rId273"/>
    <p:sldId id="523" r:id="rId274"/>
    <p:sldId id="524" r:id="rId275"/>
    <p:sldId id="525" r:id="rId276"/>
    <p:sldId id="526" r:id="rId277"/>
    <p:sldId id="527" r:id="rId278"/>
    <p:sldId id="528" r:id="rId279"/>
    <p:sldId id="529" r:id="rId280"/>
    <p:sldId id="530" r:id="rId281"/>
    <p:sldId id="531" r:id="rId282"/>
    <p:sldId id="532" r:id="rId283"/>
    <p:sldId id="533" r:id="rId284"/>
    <p:sldId id="534" r:id="rId285"/>
    <p:sldId id="535" r:id="rId286"/>
    <p:sldId id="536" r:id="rId287"/>
    <p:sldId id="537" r:id="rId288"/>
    <p:sldId id="538" r:id="rId289"/>
    <p:sldId id="539" r:id="rId290"/>
    <p:sldId id="540" r:id="rId291"/>
    <p:sldId id="541" r:id="rId292"/>
    <p:sldId id="542" r:id="rId293"/>
    <p:sldId id="543" r:id="rId294"/>
    <p:sldId id="544" r:id="rId295"/>
    <p:sldId id="545" r:id="rId296"/>
    <p:sldId id="546" r:id="rId297"/>
    <p:sldId id="547" r:id="rId298"/>
    <p:sldId id="548" r:id="rId299"/>
    <p:sldId id="549" r:id="rId300"/>
    <p:sldId id="550" r:id="rId301"/>
    <p:sldId id="551" r:id="rId302"/>
    <p:sldId id="552" r:id="rId303"/>
    <p:sldId id="553" r:id="rId304"/>
    <p:sldId id="554" r:id="rId305"/>
    <p:sldId id="555" r:id="rId306"/>
    <p:sldId id="556" r:id="rId307"/>
    <p:sldId id="557" r:id="rId308"/>
    <p:sldId id="558" r:id="rId309"/>
    <p:sldId id="559" r:id="rId310"/>
    <p:sldId id="560" r:id="rId311"/>
    <p:sldId id="561" r:id="rId312"/>
    <p:sldId id="562" r:id="rId313"/>
    <p:sldId id="563" r:id="rId314"/>
    <p:sldId id="564" r:id="rId315"/>
    <p:sldId id="565" r:id="rId316"/>
    <p:sldId id="566" r:id="rId317"/>
    <p:sldId id="567" r:id="rId318"/>
    <p:sldId id="568" r:id="rId319"/>
    <p:sldId id="569" r:id="rId320"/>
    <p:sldId id="570" r:id="rId321"/>
    <p:sldId id="571" r:id="rId322"/>
    <p:sldId id="572" r:id="rId323"/>
    <p:sldId id="573" r:id="rId324"/>
    <p:sldId id="574" r:id="rId325"/>
    <p:sldId id="575" r:id="rId326"/>
    <p:sldId id="576" r:id="rId327"/>
    <p:sldId id="577" r:id="rId328"/>
    <p:sldId id="578" r:id="rId329"/>
    <p:sldId id="579" r:id="rId330"/>
    <p:sldId id="580" r:id="rId331"/>
    <p:sldId id="581" r:id="rId332"/>
    <p:sldId id="582" r:id="rId333"/>
    <p:sldId id="583" r:id="rId334"/>
    <p:sldId id="584" r:id="rId335"/>
    <p:sldId id="585" r:id="rId336"/>
    <p:sldId id="586" r:id="rId337"/>
    <p:sldId id="587" r:id="rId338"/>
    <p:sldId id="588" r:id="rId339"/>
    <p:sldId id="589" r:id="rId340"/>
    <p:sldId id="590" r:id="rId341"/>
    <p:sldId id="591" r:id="rId342"/>
    <p:sldId id="592" r:id="rId343"/>
    <p:sldId id="593" r:id="rId344"/>
    <p:sldId id="594" r:id="rId345"/>
    <p:sldId id="595" r:id="rId346"/>
    <p:sldId id="596" r:id="rId347"/>
    <p:sldId id="597" r:id="rId348"/>
    <p:sldId id="598" r:id="rId349"/>
    <p:sldId id="599" r:id="rId350"/>
    <p:sldId id="600" r:id="rId351"/>
    <p:sldId id="601" r:id="rId352"/>
    <p:sldId id="602" r:id="rId353"/>
    <p:sldId id="603" r:id="rId354"/>
    <p:sldId id="604" r:id="rId355"/>
    <p:sldId id="605" r:id="rId356"/>
    <p:sldId id="606" r:id="rId357"/>
    <p:sldId id="607" r:id="rId358"/>
    <p:sldId id="608" r:id="rId359"/>
    <p:sldId id="609" r:id="rId360"/>
    <p:sldId id="610" r:id="rId361"/>
    <p:sldId id="611" r:id="rId362"/>
    <p:sldId id="612" r:id="rId363"/>
    <p:sldId id="613" r:id="rId364"/>
    <p:sldId id="614" r:id="rId365"/>
    <p:sldId id="615" r:id="rId366"/>
    <p:sldId id="616" r:id="rId367"/>
    <p:sldId id="617" r:id="rId368"/>
    <p:sldId id="618" r:id="rId369"/>
    <p:sldId id="619" r:id="rId370"/>
    <p:sldId id="620" r:id="rId371"/>
    <p:sldId id="621" r:id="rId372"/>
    <p:sldId id="622" r:id="rId373"/>
    <p:sldId id="623" r:id="rId374"/>
    <p:sldId id="624" r:id="rId375"/>
    <p:sldId id="625" r:id="rId376"/>
    <p:sldId id="626" r:id="rId377"/>
    <p:sldId id="627" r:id="rId378"/>
    <p:sldId id="628" r:id="rId379"/>
    <p:sldId id="629" r:id="rId380"/>
    <p:sldId id="630" r:id="rId381"/>
    <p:sldId id="631" r:id="rId382"/>
    <p:sldId id="632" r:id="rId383"/>
    <p:sldId id="633" r:id="rId384"/>
    <p:sldId id="634" r:id="rId385"/>
    <p:sldId id="635" r:id="rId386"/>
    <p:sldId id="636" r:id="rId387"/>
    <p:sldId id="637" r:id="rId388"/>
    <p:sldId id="638" r:id="rId389"/>
    <p:sldId id="639" r:id="rId390"/>
    <p:sldId id="640" r:id="rId391"/>
    <p:sldId id="641" r:id="rId392"/>
    <p:sldId id="642" r:id="rId393"/>
    <p:sldId id="643" r:id="rId394"/>
    <p:sldId id="644" r:id="rId395"/>
    <p:sldId id="645" r:id="rId396"/>
    <p:sldId id="646" r:id="rId397"/>
    <p:sldId id="647" r:id="rId398"/>
    <p:sldId id="648" r:id="rId399"/>
    <p:sldId id="649" r:id="rId400"/>
    <p:sldId id="650" r:id="rId401"/>
    <p:sldId id="651" r:id="rId402"/>
    <p:sldId id="652" r:id="rId403"/>
    <p:sldId id="653" r:id="rId404"/>
    <p:sldId id="654" r:id="rId405"/>
    <p:sldId id="655" r:id="rId406"/>
    <p:sldId id="656" r:id="rId407"/>
    <p:sldId id="657" r:id="rId408"/>
    <p:sldId id="658" r:id="rId409"/>
    <p:sldId id="659" r:id="rId410"/>
    <p:sldId id="660" r:id="rId411"/>
    <p:sldId id="661" r:id="rId412"/>
    <p:sldId id="662" r:id="rId413"/>
    <p:sldId id="663" r:id="rId414"/>
    <p:sldId id="664" r:id="rId415"/>
    <p:sldId id="665" r:id="rId416"/>
    <p:sldId id="666" r:id="rId417"/>
    <p:sldId id="667" r:id="rId418"/>
    <p:sldId id="668" r:id="rId419"/>
    <p:sldId id="669" r:id="rId420"/>
    <p:sldId id="670" r:id="rId421"/>
    <p:sldId id="671" r:id="rId422"/>
    <p:sldId id="672" r:id="rId423"/>
    <p:sldId id="673" r:id="rId424"/>
    <p:sldId id="674" r:id="rId425"/>
    <p:sldId id="675" r:id="rId426"/>
    <p:sldId id="676" r:id="rId427"/>
    <p:sldId id="677" r:id="rId428"/>
    <p:sldId id="678" r:id="rId429"/>
    <p:sldId id="679" r:id="rId430"/>
    <p:sldId id="680" r:id="rId431"/>
    <p:sldId id="681" r:id="rId432"/>
    <p:sldId id="682" r:id="rId433"/>
    <p:sldId id="683" r:id="rId434"/>
    <p:sldId id="684" r:id="rId435"/>
    <p:sldId id="685" r:id="rId436"/>
    <p:sldId id="686" r:id="rId437"/>
    <p:sldId id="687" r:id="rId438"/>
    <p:sldId id="688" r:id="rId439"/>
    <p:sldId id="689" r:id="rId440"/>
    <p:sldId id="690" r:id="rId441"/>
    <p:sldId id="691" r:id="rId442"/>
    <p:sldId id="692" r:id="rId443"/>
    <p:sldId id="693" r:id="rId444"/>
    <p:sldId id="694" r:id="rId445"/>
    <p:sldId id="695" r:id="rId446"/>
    <p:sldId id="696" r:id="rId447"/>
    <p:sldId id="697" r:id="rId448"/>
    <p:sldId id="698" r:id="rId449"/>
    <p:sldId id="699" r:id="rId450"/>
    <p:sldId id="700" r:id="rId451"/>
    <p:sldId id="701" r:id="rId452"/>
    <p:sldId id="702" r:id="rId453"/>
    <p:sldId id="703" r:id="rId454"/>
    <p:sldId id="704" r:id="rId455"/>
    <p:sldId id="705" r:id="rId456"/>
    <p:sldId id="706" r:id="rId457"/>
    <p:sldId id="707" r:id="rId458"/>
    <p:sldId id="708" r:id="rId459"/>
    <p:sldId id="709" r:id="rId4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Relationship Id="rId194" Type="http://schemas.openxmlformats.org/officeDocument/2006/relationships/slide" Target="slides/slide188.xml"/><Relationship Id="rId195" Type="http://schemas.openxmlformats.org/officeDocument/2006/relationships/slide" Target="slides/slide189.xml"/><Relationship Id="rId196" Type="http://schemas.openxmlformats.org/officeDocument/2006/relationships/slide" Target="slides/slide190.xml"/><Relationship Id="rId197" Type="http://schemas.openxmlformats.org/officeDocument/2006/relationships/slide" Target="slides/slide191.xml"/><Relationship Id="rId198" Type="http://schemas.openxmlformats.org/officeDocument/2006/relationships/slide" Target="slides/slide192.xml"/><Relationship Id="rId199" Type="http://schemas.openxmlformats.org/officeDocument/2006/relationships/slide" Target="slides/slide193.xml"/><Relationship Id="rId200" Type="http://schemas.openxmlformats.org/officeDocument/2006/relationships/slide" Target="slides/slide194.xml"/><Relationship Id="rId201" Type="http://schemas.openxmlformats.org/officeDocument/2006/relationships/slide" Target="slides/slide195.xml"/><Relationship Id="rId202" Type="http://schemas.openxmlformats.org/officeDocument/2006/relationships/slide" Target="slides/slide196.xml"/><Relationship Id="rId203" Type="http://schemas.openxmlformats.org/officeDocument/2006/relationships/slide" Target="slides/slide197.xml"/><Relationship Id="rId204" Type="http://schemas.openxmlformats.org/officeDocument/2006/relationships/slide" Target="slides/slide198.xml"/><Relationship Id="rId205" Type="http://schemas.openxmlformats.org/officeDocument/2006/relationships/slide" Target="slides/slide199.xml"/><Relationship Id="rId206" Type="http://schemas.openxmlformats.org/officeDocument/2006/relationships/slide" Target="slides/slide200.xml"/><Relationship Id="rId207" Type="http://schemas.openxmlformats.org/officeDocument/2006/relationships/slide" Target="slides/slide201.xml"/><Relationship Id="rId208" Type="http://schemas.openxmlformats.org/officeDocument/2006/relationships/slide" Target="slides/slide202.xml"/><Relationship Id="rId209" Type="http://schemas.openxmlformats.org/officeDocument/2006/relationships/slide" Target="slides/slide203.xml"/><Relationship Id="rId210" Type="http://schemas.openxmlformats.org/officeDocument/2006/relationships/slide" Target="slides/slide204.xml"/><Relationship Id="rId211" Type="http://schemas.openxmlformats.org/officeDocument/2006/relationships/slide" Target="slides/slide205.xml"/><Relationship Id="rId212" Type="http://schemas.openxmlformats.org/officeDocument/2006/relationships/slide" Target="slides/slide206.xml"/><Relationship Id="rId213" Type="http://schemas.openxmlformats.org/officeDocument/2006/relationships/slide" Target="slides/slide207.xml"/><Relationship Id="rId214" Type="http://schemas.openxmlformats.org/officeDocument/2006/relationships/slide" Target="slides/slide208.xml"/><Relationship Id="rId215" Type="http://schemas.openxmlformats.org/officeDocument/2006/relationships/slide" Target="slides/slide209.xml"/><Relationship Id="rId216" Type="http://schemas.openxmlformats.org/officeDocument/2006/relationships/slide" Target="slides/slide210.xml"/><Relationship Id="rId217" Type="http://schemas.openxmlformats.org/officeDocument/2006/relationships/slide" Target="slides/slide211.xml"/><Relationship Id="rId218" Type="http://schemas.openxmlformats.org/officeDocument/2006/relationships/slide" Target="slides/slide212.xml"/><Relationship Id="rId219" Type="http://schemas.openxmlformats.org/officeDocument/2006/relationships/slide" Target="slides/slide213.xml"/><Relationship Id="rId220" Type="http://schemas.openxmlformats.org/officeDocument/2006/relationships/slide" Target="slides/slide214.xml"/><Relationship Id="rId221" Type="http://schemas.openxmlformats.org/officeDocument/2006/relationships/slide" Target="slides/slide215.xml"/><Relationship Id="rId222" Type="http://schemas.openxmlformats.org/officeDocument/2006/relationships/slide" Target="slides/slide216.xml"/><Relationship Id="rId223" Type="http://schemas.openxmlformats.org/officeDocument/2006/relationships/slide" Target="slides/slide217.xml"/><Relationship Id="rId224" Type="http://schemas.openxmlformats.org/officeDocument/2006/relationships/slide" Target="slides/slide218.xml"/><Relationship Id="rId225" Type="http://schemas.openxmlformats.org/officeDocument/2006/relationships/slide" Target="slides/slide219.xml"/><Relationship Id="rId226" Type="http://schemas.openxmlformats.org/officeDocument/2006/relationships/slide" Target="slides/slide220.xml"/><Relationship Id="rId227" Type="http://schemas.openxmlformats.org/officeDocument/2006/relationships/slide" Target="slides/slide221.xml"/><Relationship Id="rId228" Type="http://schemas.openxmlformats.org/officeDocument/2006/relationships/slide" Target="slides/slide222.xml"/><Relationship Id="rId229" Type="http://schemas.openxmlformats.org/officeDocument/2006/relationships/slide" Target="slides/slide223.xml"/><Relationship Id="rId230" Type="http://schemas.openxmlformats.org/officeDocument/2006/relationships/slide" Target="slides/slide224.xml"/><Relationship Id="rId231" Type="http://schemas.openxmlformats.org/officeDocument/2006/relationships/slide" Target="slides/slide225.xml"/><Relationship Id="rId232" Type="http://schemas.openxmlformats.org/officeDocument/2006/relationships/slide" Target="slides/slide226.xml"/><Relationship Id="rId233" Type="http://schemas.openxmlformats.org/officeDocument/2006/relationships/slide" Target="slides/slide227.xml"/><Relationship Id="rId234" Type="http://schemas.openxmlformats.org/officeDocument/2006/relationships/slide" Target="slides/slide228.xml"/><Relationship Id="rId235" Type="http://schemas.openxmlformats.org/officeDocument/2006/relationships/slide" Target="slides/slide229.xml"/><Relationship Id="rId236" Type="http://schemas.openxmlformats.org/officeDocument/2006/relationships/slide" Target="slides/slide230.xml"/><Relationship Id="rId237" Type="http://schemas.openxmlformats.org/officeDocument/2006/relationships/slide" Target="slides/slide231.xml"/><Relationship Id="rId238" Type="http://schemas.openxmlformats.org/officeDocument/2006/relationships/slide" Target="slides/slide232.xml"/><Relationship Id="rId239" Type="http://schemas.openxmlformats.org/officeDocument/2006/relationships/slide" Target="slides/slide233.xml"/><Relationship Id="rId240" Type="http://schemas.openxmlformats.org/officeDocument/2006/relationships/slide" Target="slides/slide234.xml"/><Relationship Id="rId241" Type="http://schemas.openxmlformats.org/officeDocument/2006/relationships/slide" Target="slides/slide235.xml"/><Relationship Id="rId242" Type="http://schemas.openxmlformats.org/officeDocument/2006/relationships/slide" Target="slides/slide236.xml"/><Relationship Id="rId243" Type="http://schemas.openxmlformats.org/officeDocument/2006/relationships/slide" Target="slides/slide237.xml"/><Relationship Id="rId244" Type="http://schemas.openxmlformats.org/officeDocument/2006/relationships/slide" Target="slides/slide238.xml"/><Relationship Id="rId245" Type="http://schemas.openxmlformats.org/officeDocument/2006/relationships/slide" Target="slides/slide239.xml"/><Relationship Id="rId246" Type="http://schemas.openxmlformats.org/officeDocument/2006/relationships/slide" Target="slides/slide240.xml"/><Relationship Id="rId247" Type="http://schemas.openxmlformats.org/officeDocument/2006/relationships/slide" Target="slides/slide241.xml"/><Relationship Id="rId248" Type="http://schemas.openxmlformats.org/officeDocument/2006/relationships/slide" Target="slides/slide242.xml"/><Relationship Id="rId249" Type="http://schemas.openxmlformats.org/officeDocument/2006/relationships/slide" Target="slides/slide243.xml"/><Relationship Id="rId250" Type="http://schemas.openxmlformats.org/officeDocument/2006/relationships/slide" Target="slides/slide244.xml"/><Relationship Id="rId251" Type="http://schemas.openxmlformats.org/officeDocument/2006/relationships/slide" Target="slides/slide245.xml"/><Relationship Id="rId252" Type="http://schemas.openxmlformats.org/officeDocument/2006/relationships/slide" Target="slides/slide246.xml"/><Relationship Id="rId253" Type="http://schemas.openxmlformats.org/officeDocument/2006/relationships/slide" Target="slides/slide247.xml"/><Relationship Id="rId254" Type="http://schemas.openxmlformats.org/officeDocument/2006/relationships/slide" Target="slides/slide248.xml"/><Relationship Id="rId255" Type="http://schemas.openxmlformats.org/officeDocument/2006/relationships/slide" Target="slides/slide249.xml"/><Relationship Id="rId256" Type="http://schemas.openxmlformats.org/officeDocument/2006/relationships/slide" Target="slides/slide250.xml"/><Relationship Id="rId257" Type="http://schemas.openxmlformats.org/officeDocument/2006/relationships/slide" Target="slides/slide251.xml"/><Relationship Id="rId258" Type="http://schemas.openxmlformats.org/officeDocument/2006/relationships/slide" Target="slides/slide252.xml"/><Relationship Id="rId259" Type="http://schemas.openxmlformats.org/officeDocument/2006/relationships/slide" Target="slides/slide253.xml"/><Relationship Id="rId260" Type="http://schemas.openxmlformats.org/officeDocument/2006/relationships/slide" Target="slides/slide254.xml"/><Relationship Id="rId261" Type="http://schemas.openxmlformats.org/officeDocument/2006/relationships/slide" Target="slides/slide255.xml"/><Relationship Id="rId262" Type="http://schemas.openxmlformats.org/officeDocument/2006/relationships/slide" Target="slides/slide256.xml"/><Relationship Id="rId263" Type="http://schemas.openxmlformats.org/officeDocument/2006/relationships/slide" Target="slides/slide257.xml"/><Relationship Id="rId264" Type="http://schemas.openxmlformats.org/officeDocument/2006/relationships/slide" Target="slides/slide258.xml"/><Relationship Id="rId265" Type="http://schemas.openxmlformats.org/officeDocument/2006/relationships/slide" Target="slides/slide259.xml"/><Relationship Id="rId266" Type="http://schemas.openxmlformats.org/officeDocument/2006/relationships/slide" Target="slides/slide260.xml"/><Relationship Id="rId267" Type="http://schemas.openxmlformats.org/officeDocument/2006/relationships/slide" Target="slides/slide261.xml"/><Relationship Id="rId268" Type="http://schemas.openxmlformats.org/officeDocument/2006/relationships/slide" Target="slides/slide262.xml"/><Relationship Id="rId269" Type="http://schemas.openxmlformats.org/officeDocument/2006/relationships/slide" Target="slides/slide263.xml"/><Relationship Id="rId270" Type="http://schemas.openxmlformats.org/officeDocument/2006/relationships/slide" Target="slides/slide264.xml"/><Relationship Id="rId271" Type="http://schemas.openxmlformats.org/officeDocument/2006/relationships/slide" Target="slides/slide265.xml"/><Relationship Id="rId272" Type="http://schemas.openxmlformats.org/officeDocument/2006/relationships/slide" Target="slides/slide266.xml"/><Relationship Id="rId273" Type="http://schemas.openxmlformats.org/officeDocument/2006/relationships/slide" Target="slides/slide267.xml"/><Relationship Id="rId274" Type="http://schemas.openxmlformats.org/officeDocument/2006/relationships/slide" Target="slides/slide268.xml"/><Relationship Id="rId275" Type="http://schemas.openxmlformats.org/officeDocument/2006/relationships/slide" Target="slides/slide269.xml"/><Relationship Id="rId276" Type="http://schemas.openxmlformats.org/officeDocument/2006/relationships/slide" Target="slides/slide270.xml"/><Relationship Id="rId277" Type="http://schemas.openxmlformats.org/officeDocument/2006/relationships/slide" Target="slides/slide271.xml"/><Relationship Id="rId278" Type="http://schemas.openxmlformats.org/officeDocument/2006/relationships/slide" Target="slides/slide272.xml"/><Relationship Id="rId279" Type="http://schemas.openxmlformats.org/officeDocument/2006/relationships/slide" Target="slides/slide273.xml"/><Relationship Id="rId280" Type="http://schemas.openxmlformats.org/officeDocument/2006/relationships/slide" Target="slides/slide274.xml"/><Relationship Id="rId281" Type="http://schemas.openxmlformats.org/officeDocument/2006/relationships/slide" Target="slides/slide275.xml"/><Relationship Id="rId282" Type="http://schemas.openxmlformats.org/officeDocument/2006/relationships/slide" Target="slides/slide276.xml"/><Relationship Id="rId283" Type="http://schemas.openxmlformats.org/officeDocument/2006/relationships/slide" Target="slides/slide277.xml"/><Relationship Id="rId284" Type="http://schemas.openxmlformats.org/officeDocument/2006/relationships/slide" Target="slides/slide278.xml"/><Relationship Id="rId285" Type="http://schemas.openxmlformats.org/officeDocument/2006/relationships/slide" Target="slides/slide279.xml"/><Relationship Id="rId286" Type="http://schemas.openxmlformats.org/officeDocument/2006/relationships/slide" Target="slides/slide280.xml"/><Relationship Id="rId287" Type="http://schemas.openxmlformats.org/officeDocument/2006/relationships/slide" Target="slides/slide281.xml"/><Relationship Id="rId288" Type="http://schemas.openxmlformats.org/officeDocument/2006/relationships/slide" Target="slides/slide282.xml"/><Relationship Id="rId289" Type="http://schemas.openxmlformats.org/officeDocument/2006/relationships/slide" Target="slides/slide283.xml"/><Relationship Id="rId290" Type="http://schemas.openxmlformats.org/officeDocument/2006/relationships/slide" Target="slides/slide284.xml"/><Relationship Id="rId291" Type="http://schemas.openxmlformats.org/officeDocument/2006/relationships/slide" Target="slides/slide285.xml"/><Relationship Id="rId292" Type="http://schemas.openxmlformats.org/officeDocument/2006/relationships/slide" Target="slides/slide286.xml"/><Relationship Id="rId293" Type="http://schemas.openxmlformats.org/officeDocument/2006/relationships/slide" Target="slides/slide287.xml"/><Relationship Id="rId294" Type="http://schemas.openxmlformats.org/officeDocument/2006/relationships/slide" Target="slides/slide288.xml"/><Relationship Id="rId295" Type="http://schemas.openxmlformats.org/officeDocument/2006/relationships/slide" Target="slides/slide289.xml"/><Relationship Id="rId296" Type="http://schemas.openxmlformats.org/officeDocument/2006/relationships/slide" Target="slides/slide290.xml"/><Relationship Id="rId297" Type="http://schemas.openxmlformats.org/officeDocument/2006/relationships/slide" Target="slides/slide291.xml"/><Relationship Id="rId298" Type="http://schemas.openxmlformats.org/officeDocument/2006/relationships/slide" Target="slides/slide292.xml"/><Relationship Id="rId299" Type="http://schemas.openxmlformats.org/officeDocument/2006/relationships/slide" Target="slides/slide293.xml"/><Relationship Id="rId300" Type="http://schemas.openxmlformats.org/officeDocument/2006/relationships/slide" Target="slides/slide294.xml"/><Relationship Id="rId301" Type="http://schemas.openxmlformats.org/officeDocument/2006/relationships/slide" Target="slides/slide295.xml"/><Relationship Id="rId302" Type="http://schemas.openxmlformats.org/officeDocument/2006/relationships/slide" Target="slides/slide296.xml"/><Relationship Id="rId303" Type="http://schemas.openxmlformats.org/officeDocument/2006/relationships/slide" Target="slides/slide297.xml"/><Relationship Id="rId304" Type="http://schemas.openxmlformats.org/officeDocument/2006/relationships/slide" Target="slides/slide298.xml"/><Relationship Id="rId305" Type="http://schemas.openxmlformats.org/officeDocument/2006/relationships/slide" Target="slides/slide299.xml"/><Relationship Id="rId306" Type="http://schemas.openxmlformats.org/officeDocument/2006/relationships/slide" Target="slides/slide300.xml"/><Relationship Id="rId307" Type="http://schemas.openxmlformats.org/officeDocument/2006/relationships/slide" Target="slides/slide301.xml"/><Relationship Id="rId308" Type="http://schemas.openxmlformats.org/officeDocument/2006/relationships/slide" Target="slides/slide302.xml"/><Relationship Id="rId309" Type="http://schemas.openxmlformats.org/officeDocument/2006/relationships/slide" Target="slides/slide303.xml"/><Relationship Id="rId310" Type="http://schemas.openxmlformats.org/officeDocument/2006/relationships/slide" Target="slides/slide304.xml"/><Relationship Id="rId311" Type="http://schemas.openxmlformats.org/officeDocument/2006/relationships/slide" Target="slides/slide305.xml"/><Relationship Id="rId312" Type="http://schemas.openxmlformats.org/officeDocument/2006/relationships/slide" Target="slides/slide306.xml"/><Relationship Id="rId313" Type="http://schemas.openxmlformats.org/officeDocument/2006/relationships/slide" Target="slides/slide307.xml"/><Relationship Id="rId314" Type="http://schemas.openxmlformats.org/officeDocument/2006/relationships/slide" Target="slides/slide308.xml"/><Relationship Id="rId315" Type="http://schemas.openxmlformats.org/officeDocument/2006/relationships/slide" Target="slides/slide309.xml"/><Relationship Id="rId316" Type="http://schemas.openxmlformats.org/officeDocument/2006/relationships/slide" Target="slides/slide310.xml"/><Relationship Id="rId317" Type="http://schemas.openxmlformats.org/officeDocument/2006/relationships/slide" Target="slides/slide311.xml"/><Relationship Id="rId318" Type="http://schemas.openxmlformats.org/officeDocument/2006/relationships/slide" Target="slides/slide312.xml"/><Relationship Id="rId319" Type="http://schemas.openxmlformats.org/officeDocument/2006/relationships/slide" Target="slides/slide313.xml"/><Relationship Id="rId320" Type="http://schemas.openxmlformats.org/officeDocument/2006/relationships/slide" Target="slides/slide314.xml"/><Relationship Id="rId321" Type="http://schemas.openxmlformats.org/officeDocument/2006/relationships/slide" Target="slides/slide315.xml"/><Relationship Id="rId322" Type="http://schemas.openxmlformats.org/officeDocument/2006/relationships/slide" Target="slides/slide316.xml"/><Relationship Id="rId323" Type="http://schemas.openxmlformats.org/officeDocument/2006/relationships/slide" Target="slides/slide317.xml"/><Relationship Id="rId324" Type="http://schemas.openxmlformats.org/officeDocument/2006/relationships/slide" Target="slides/slide318.xml"/><Relationship Id="rId325" Type="http://schemas.openxmlformats.org/officeDocument/2006/relationships/slide" Target="slides/slide319.xml"/><Relationship Id="rId326" Type="http://schemas.openxmlformats.org/officeDocument/2006/relationships/slide" Target="slides/slide320.xml"/><Relationship Id="rId327" Type="http://schemas.openxmlformats.org/officeDocument/2006/relationships/slide" Target="slides/slide321.xml"/><Relationship Id="rId328" Type="http://schemas.openxmlformats.org/officeDocument/2006/relationships/slide" Target="slides/slide322.xml"/><Relationship Id="rId329" Type="http://schemas.openxmlformats.org/officeDocument/2006/relationships/slide" Target="slides/slide323.xml"/><Relationship Id="rId330" Type="http://schemas.openxmlformats.org/officeDocument/2006/relationships/slide" Target="slides/slide324.xml"/><Relationship Id="rId331" Type="http://schemas.openxmlformats.org/officeDocument/2006/relationships/slide" Target="slides/slide325.xml"/><Relationship Id="rId332" Type="http://schemas.openxmlformats.org/officeDocument/2006/relationships/slide" Target="slides/slide326.xml"/><Relationship Id="rId333" Type="http://schemas.openxmlformats.org/officeDocument/2006/relationships/slide" Target="slides/slide327.xml"/><Relationship Id="rId334" Type="http://schemas.openxmlformats.org/officeDocument/2006/relationships/slide" Target="slides/slide328.xml"/><Relationship Id="rId335" Type="http://schemas.openxmlformats.org/officeDocument/2006/relationships/slide" Target="slides/slide329.xml"/><Relationship Id="rId336" Type="http://schemas.openxmlformats.org/officeDocument/2006/relationships/slide" Target="slides/slide330.xml"/><Relationship Id="rId337" Type="http://schemas.openxmlformats.org/officeDocument/2006/relationships/slide" Target="slides/slide331.xml"/><Relationship Id="rId338" Type="http://schemas.openxmlformats.org/officeDocument/2006/relationships/slide" Target="slides/slide332.xml"/><Relationship Id="rId339" Type="http://schemas.openxmlformats.org/officeDocument/2006/relationships/slide" Target="slides/slide333.xml"/><Relationship Id="rId340" Type="http://schemas.openxmlformats.org/officeDocument/2006/relationships/slide" Target="slides/slide334.xml"/><Relationship Id="rId341" Type="http://schemas.openxmlformats.org/officeDocument/2006/relationships/slide" Target="slides/slide335.xml"/><Relationship Id="rId342" Type="http://schemas.openxmlformats.org/officeDocument/2006/relationships/slide" Target="slides/slide336.xml"/><Relationship Id="rId343" Type="http://schemas.openxmlformats.org/officeDocument/2006/relationships/slide" Target="slides/slide337.xml"/><Relationship Id="rId344" Type="http://schemas.openxmlformats.org/officeDocument/2006/relationships/slide" Target="slides/slide338.xml"/><Relationship Id="rId345" Type="http://schemas.openxmlformats.org/officeDocument/2006/relationships/slide" Target="slides/slide339.xml"/><Relationship Id="rId346" Type="http://schemas.openxmlformats.org/officeDocument/2006/relationships/slide" Target="slides/slide340.xml"/><Relationship Id="rId347" Type="http://schemas.openxmlformats.org/officeDocument/2006/relationships/slide" Target="slides/slide341.xml"/><Relationship Id="rId348" Type="http://schemas.openxmlformats.org/officeDocument/2006/relationships/slide" Target="slides/slide342.xml"/><Relationship Id="rId349" Type="http://schemas.openxmlformats.org/officeDocument/2006/relationships/slide" Target="slides/slide343.xml"/><Relationship Id="rId350" Type="http://schemas.openxmlformats.org/officeDocument/2006/relationships/slide" Target="slides/slide344.xml"/><Relationship Id="rId351" Type="http://schemas.openxmlformats.org/officeDocument/2006/relationships/slide" Target="slides/slide345.xml"/><Relationship Id="rId352" Type="http://schemas.openxmlformats.org/officeDocument/2006/relationships/slide" Target="slides/slide346.xml"/><Relationship Id="rId353" Type="http://schemas.openxmlformats.org/officeDocument/2006/relationships/slide" Target="slides/slide347.xml"/><Relationship Id="rId354" Type="http://schemas.openxmlformats.org/officeDocument/2006/relationships/slide" Target="slides/slide348.xml"/><Relationship Id="rId355" Type="http://schemas.openxmlformats.org/officeDocument/2006/relationships/slide" Target="slides/slide349.xml"/><Relationship Id="rId356" Type="http://schemas.openxmlformats.org/officeDocument/2006/relationships/slide" Target="slides/slide350.xml"/><Relationship Id="rId357" Type="http://schemas.openxmlformats.org/officeDocument/2006/relationships/slide" Target="slides/slide351.xml"/><Relationship Id="rId358" Type="http://schemas.openxmlformats.org/officeDocument/2006/relationships/slide" Target="slides/slide352.xml"/><Relationship Id="rId359" Type="http://schemas.openxmlformats.org/officeDocument/2006/relationships/slide" Target="slides/slide353.xml"/><Relationship Id="rId360" Type="http://schemas.openxmlformats.org/officeDocument/2006/relationships/slide" Target="slides/slide354.xml"/><Relationship Id="rId361" Type="http://schemas.openxmlformats.org/officeDocument/2006/relationships/slide" Target="slides/slide355.xml"/><Relationship Id="rId362" Type="http://schemas.openxmlformats.org/officeDocument/2006/relationships/slide" Target="slides/slide356.xml"/><Relationship Id="rId363" Type="http://schemas.openxmlformats.org/officeDocument/2006/relationships/slide" Target="slides/slide357.xml"/><Relationship Id="rId364" Type="http://schemas.openxmlformats.org/officeDocument/2006/relationships/slide" Target="slides/slide358.xml"/><Relationship Id="rId365" Type="http://schemas.openxmlformats.org/officeDocument/2006/relationships/slide" Target="slides/slide359.xml"/><Relationship Id="rId366" Type="http://schemas.openxmlformats.org/officeDocument/2006/relationships/slide" Target="slides/slide360.xml"/><Relationship Id="rId367" Type="http://schemas.openxmlformats.org/officeDocument/2006/relationships/slide" Target="slides/slide361.xml"/><Relationship Id="rId368" Type="http://schemas.openxmlformats.org/officeDocument/2006/relationships/slide" Target="slides/slide362.xml"/><Relationship Id="rId369" Type="http://schemas.openxmlformats.org/officeDocument/2006/relationships/slide" Target="slides/slide363.xml"/><Relationship Id="rId370" Type="http://schemas.openxmlformats.org/officeDocument/2006/relationships/slide" Target="slides/slide364.xml"/><Relationship Id="rId371" Type="http://schemas.openxmlformats.org/officeDocument/2006/relationships/slide" Target="slides/slide365.xml"/><Relationship Id="rId372" Type="http://schemas.openxmlformats.org/officeDocument/2006/relationships/slide" Target="slides/slide366.xml"/><Relationship Id="rId373" Type="http://schemas.openxmlformats.org/officeDocument/2006/relationships/slide" Target="slides/slide367.xml"/><Relationship Id="rId374" Type="http://schemas.openxmlformats.org/officeDocument/2006/relationships/slide" Target="slides/slide368.xml"/><Relationship Id="rId375" Type="http://schemas.openxmlformats.org/officeDocument/2006/relationships/slide" Target="slides/slide369.xml"/><Relationship Id="rId376" Type="http://schemas.openxmlformats.org/officeDocument/2006/relationships/slide" Target="slides/slide370.xml"/><Relationship Id="rId377" Type="http://schemas.openxmlformats.org/officeDocument/2006/relationships/slide" Target="slides/slide371.xml"/><Relationship Id="rId378" Type="http://schemas.openxmlformats.org/officeDocument/2006/relationships/slide" Target="slides/slide372.xml"/><Relationship Id="rId379" Type="http://schemas.openxmlformats.org/officeDocument/2006/relationships/slide" Target="slides/slide373.xml"/><Relationship Id="rId380" Type="http://schemas.openxmlformats.org/officeDocument/2006/relationships/slide" Target="slides/slide374.xml"/><Relationship Id="rId381" Type="http://schemas.openxmlformats.org/officeDocument/2006/relationships/slide" Target="slides/slide375.xml"/><Relationship Id="rId382" Type="http://schemas.openxmlformats.org/officeDocument/2006/relationships/slide" Target="slides/slide376.xml"/><Relationship Id="rId383" Type="http://schemas.openxmlformats.org/officeDocument/2006/relationships/slide" Target="slides/slide377.xml"/><Relationship Id="rId384" Type="http://schemas.openxmlformats.org/officeDocument/2006/relationships/slide" Target="slides/slide378.xml"/><Relationship Id="rId385" Type="http://schemas.openxmlformats.org/officeDocument/2006/relationships/slide" Target="slides/slide379.xml"/><Relationship Id="rId386" Type="http://schemas.openxmlformats.org/officeDocument/2006/relationships/slide" Target="slides/slide380.xml"/><Relationship Id="rId387" Type="http://schemas.openxmlformats.org/officeDocument/2006/relationships/slide" Target="slides/slide381.xml"/><Relationship Id="rId388" Type="http://schemas.openxmlformats.org/officeDocument/2006/relationships/slide" Target="slides/slide382.xml"/><Relationship Id="rId389" Type="http://schemas.openxmlformats.org/officeDocument/2006/relationships/slide" Target="slides/slide383.xml"/><Relationship Id="rId390" Type="http://schemas.openxmlformats.org/officeDocument/2006/relationships/slide" Target="slides/slide384.xml"/><Relationship Id="rId391" Type="http://schemas.openxmlformats.org/officeDocument/2006/relationships/slide" Target="slides/slide385.xml"/><Relationship Id="rId392" Type="http://schemas.openxmlformats.org/officeDocument/2006/relationships/slide" Target="slides/slide386.xml"/><Relationship Id="rId393" Type="http://schemas.openxmlformats.org/officeDocument/2006/relationships/slide" Target="slides/slide387.xml"/><Relationship Id="rId394" Type="http://schemas.openxmlformats.org/officeDocument/2006/relationships/slide" Target="slides/slide388.xml"/><Relationship Id="rId395" Type="http://schemas.openxmlformats.org/officeDocument/2006/relationships/slide" Target="slides/slide389.xml"/><Relationship Id="rId396" Type="http://schemas.openxmlformats.org/officeDocument/2006/relationships/slide" Target="slides/slide390.xml"/><Relationship Id="rId397" Type="http://schemas.openxmlformats.org/officeDocument/2006/relationships/slide" Target="slides/slide391.xml"/><Relationship Id="rId398" Type="http://schemas.openxmlformats.org/officeDocument/2006/relationships/slide" Target="slides/slide392.xml"/><Relationship Id="rId399" Type="http://schemas.openxmlformats.org/officeDocument/2006/relationships/slide" Target="slides/slide393.xml"/><Relationship Id="rId400" Type="http://schemas.openxmlformats.org/officeDocument/2006/relationships/slide" Target="slides/slide394.xml"/><Relationship Id="rId401" Type="http://schemas.openxmlformats.org/officeDocument/2006/relationships/slide" Target="slides/slide395.xml"/><Relationship Id="rId402" Type="http://schemas.openxmlformats.org/officeDocument/2006/relationships/slide" Target="slides/slide396.xml"/><Relationship Id="rId403" Type="http://schemas.openxmlformats.org/officeDocument/2006/relationships/slide" Target="slides/slide397.xml"/><Relationship Id="rId404" Type="http://schemas.openxmlformats.org/officeDocument/2006/relationships/slide" Target="slides/slide398.xml"/><Relationship Id="rId405" Type="http://schemas.openxmlformats.org/officeDocument/2006/relationships/slide" Target="slides/slide399.xml"/><Relationship Id="rId406" Type="http://schemas.openxmlformats.org/officeDocument/2006/relationships/slide" Target="slides/slide400.xml"/><Relationship Id="rId407" Type="http://schemas.openxmlformats.org/officeDocument/2006/relationships/slide" Target="slides/slide401.xml"/><Relationship Id="rId408" Type="http://schemas.openxmlformats.org/officeDocument/2006/relationships/slide" Target="slides/slide402.xml"/><Relationship Id="rId409" Type="http://schemas.openxmlformats.org/officeDocument/2006/relationships/slide" Target="slides/slide403.xml"/><Relationship Id="rId410" Type="http://schemas.openxmlformats.org/officeDocument/2006/relationships/slide" Target="slides/slide404.xml"/><Relationship Id="rId411" Type="http://schemas.openxmlformats.org/officeDocument/2006/relationships/slide" Target="slides/slide405.xml"/><Relationship Id="rId412" Type="http://schemas.openxmlformats.org/officeDocument/2006/relationships/slide" Target="slides/slide406.xml"/><Relationship Id="rId413" Type="http://schemas.openxmlformats.org/officeDocument/2006/relationships/slide" Target="slides/slide407.xml"/><Relationship Id="rId414" Type="http://schemas.openxmlformats.org/officeDocument/2006/relationships/slide" Target="slides/slide408.xml"/><Relationship Id="rId415" Type="http://schemas.openxmlformats.org/officeDocument/2006/relationships/slide" Target="slides/slide409.xml"/><Relationship Id="rId416" Type="http://schemas.openxmlformats.org/officeDocument/2006/relationships/slide" Target="slides/slide410.xml"/><Relationship Id="rId417" Type="http://schemas.openxmlformats.org/officeDocument/2006/relationships/slide" Target="slides/slide411.xml"/><Relationship Id="rId418" Type="http://schemas.openxmlformats.org/officeDocument/2006/relationships/slide" Target="slides/slide412.xml"/><Relationship Id="rId419" Type="http://schemas.openxmlformats.org/officeDocument/2006/relationships/slide" Target="slides/slide413.xml"/><Relationship Id="rId420" Type="http://schemas.openxmlformats.org/officeDocument/2006/relationships/slide" Target="slides/slide414.xml"/><Relationship Id="rId421" Type="http://schemas.openxmlformats.org/officeDocument/2006/relationships/slide" Target="slides/slide415.xml"/><Relationship Id="rId422" Type="http://schemas.openxmlformats.org/officeDocument/2006/relationships/slide" Target="slides/slide416.xml"/><Relationship Id="rId423" Type="http://schemas.openxmlformats.org/officeDocument/2006/relationships/slide" Target="slides/slide417.xml"/><Relationship Id="rId424" Type="http://schemas.openxmlformats.org/officeDocument/2006/relationships/slide" Target="slides/slide418.xml"/><Relationship Id="rId425" Type="http://schemas.openxmlformats.org/officeDocument/2006/relationships/slide" Target="slides/slide419.xml"/><Relationship Id="rId426" Type="http://schemas.openxmlformats.org/officeDocument/2006/relationships/slide" Target="slides/slide420.xml"/><Relationship Id="rId427" Type="http://schemas.openxmlformats.org/officeDocument/2006/relationships/slide" Target="slides/slide421.xml"/><Relationship Id="rId428" Type="http://schemas.openxmlformats.org/officeDocument/2006/relationships/slide" Target="slides/slide422.xml"/><Relationship Id="rId429" Type="http://schemas.openxmlformats.org/officeDocument/2006/relationships/slide" Target="slides/slide423.xml"/><Relationship Id="rId430" Type="http://schemas.openxmlformats.org/officeDocument/2006/relationships/slide" Target="slides/slide424.xml"/><Relationship Id="rId431" Type="http://schemas.openxmlformats.org/officeDocument/2006/relationships/slide" Target="slides/slide425.xml"/><Relationship Id="rId432" Type="http://schemas.openxmlformats.org/officeDocument/2006/relationships/slide" Target="slides/slide426.xml"/><Relationship Id="rId433" Type="http://schemas.openxmlformats.org/officeDocument/2006/relationships/slide" Target="slides/slide427.xml"/><Relationship Id="rId434" Type="http://schemas.openxmlformats.org/officeDocument/2006/relationships/slide" Target="slides/slide428.xml"/><Relationship Id="rId435" Type="http://schemas.openxmlformats.org/officeDocument/2006/relationships/slide" Target="slides/slide429.xml"/><Relationship Id="rId436" Type="http://schemas.openxmlformats.org/officeDocument/2006/relationships/slide" Target="slides/slide430.xml"/><Relationship Id="rId437" Type="http://schemas.openxmlformats.org/officeDocument/2006/relationships/slide" Target="slides/slide431.xml"/><Relationship Id="rId438" Type="http://schemas.openxmlformats.org/officeDocument/2006/relationships/slide" Target="slides/slide432.xml"/><Relationship Id="rId439" Type="http://schemas.openxmlformats.org/officeDocument/2006/relationships/slide" Target="slides/slide433.xml"/><Relationship Id="rId440" Type="http://schemas.openxmlformats.org/officeDocument/2006/relationships/slide" Target="slides/slide434.xml"/><Relationship Id="rId441" Type="http://schemas.openxmlformats.org/officeDocument/2006/relationships/slide" Target="slides/slide435.xml"/><Relationship Id="rId442" Type="http://schemas.openxmlformats.org/officeDocument/2006/relationships/slide" Target="slides/slide436.xml"/><Relationship Id="rId443" Type="http://schemas.openxmlformats.org/officeDocument/2006/relationships/slide" Target="slides/slide437.xml"/><Relationship Id="rId444" Type="http://schemas.openxmlformats.org/officeDocument/2006/relationships/slide" Target="slides/slide438.xml"/><Relationship Id="rId445" Type="http://schemas.openxmlformats.org/officeDocument/2006/relationships/slide" Target="slides/slide439.xml"/><Relationship Id="rId446" Type="http://schemas.openxmlformats.org/officeDocument/2006/relationships/slide" Target="slides/slide440.xml"/><Relationship Id="rId447" Type="http://schemas.openxmlformats.org/officeDocument/2006/relationships/slide" Target="slides/slide441.xml"/><Relationship Id="rId448" Type="http://schemas.openxmlformats.org/officeDocument/2006/relationships/slide" Target="slides/slide442.xml"/><Relationship Id="rId449" Type="http://schemas.openxmlformats.org/officeDocument/2006/relationships/slide" Target="slides/slide443.xml"/><Relationship Id="rId450" Type="http://schemas.openxmlformats.org/officeDocument/2006/relationships/slide" Target="slides/slide444.xml"/><Relationship Id="rId451" Type="http://schemas.openxmlformats.org/officeDocument/2006/relationships/slide" Target="slides/slide445.xml"/><Relationship Id="rId452" Type="http://schemas.openxmlformats.org/officeDocument/2006/relationships/slide" Target="slides/slide446.xml"/><Relationship Id="rId453" Type="http://schemas.openxmlformats.org/officeDocument/2006/relationships/slide" Target="slides/slide447.xml"/><Relationship Id="rId454" Type="http://schemas.openxmlformats.org/officeDocument/2006/relationships/slide" Target="slides/slide448.xml"/><Relationship Id="rId455" Type="http://schemas.openxmlformats.org/officeDocument/2006/relationships/slide" Target="slides/slide449.xml"/><Relationship Id="rId456" Type="http://schemas.openxmlformats.org/officeDocument/2006/relationships/slide" Target="slides/slide450.xml"/><Relationship Id="rId457" Type="http://schemas.openxmlformats.org/officeDocument/2006/relationships/slide" Target="slides/slide451.xml"/><Relationship Id="rId458" Type="http://schemas.openxmlformats.org/officeDocument/2006/relationships/slide" Target="slides/slide452.xml"/><Relationship Id="rId459" Type="http://schemas.openxmlformats.org/officeDocument/2006/relationships/slide" Target="slides/slide453.xml"/><Relationship Id="rId460" Type="http://schemas.openxmlformats.org/officeDocument/2006/relationships/slide" Target="slides/slide454.xml"/><Relationship Id="rId461" Type="http://schemas.openxmlformats.org/officeDocument/2006/relationships/slide" Target="slides/slide45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5.xlsx"/></Relationships>
</file>

<file path=ppt/charts/_rels/chart1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6.xlsx"/></Relationships>
</file>

<file path=ppt/charts/_rels/chart1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7.xlsx"/></Relationships>
</file>

<file path=ppt/charts/_rels/chart1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8.xlsx"/></Relationships>
</file>

<file path=ppt/charts/_rels/chart1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9.xlsx"/></Relationships>
</file>

<file path=ppt/charts/_rels/chart2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0.xlsx"/></Relationships>
</file>

<file path=ppt/charts/_rels/chart2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1.xlsx"/></Relationships>
</file>

<file path=ppt/charts/_rels/chart2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2.xlsx"/></Relationships>
</file>

<file path=ppt/charts/_rels/chart2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3.xlsx"/></Relationships>
</file>

<file path=ppt/charts/_rels/chart2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4.xlsx"/></Relationships>
</file>

<file path=ppt/charts/_rels/chart2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5.xlsx"/></Relationships>
</file>

<file path=ppt/charts/_rels/chart2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6.xlsx"/></Relationships>
</file>

<file path=ppt/charts/_rels/chart2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7.xlsx"/></Relationships>
</file>

<file path=ppt/charts/_rels/chart2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8.xlsx"/></Relationships>
</file>

<file path=ppt/charts/_rels/chart2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9.xlsx"/></Relationships>
</file>

<file path=ppt/charts/_rels/chart3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0.xlsx"/></Relationships>
</file>

<file path=ppt/charts/_rels/chart3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1.xlsx"/></Relationships>
</file>

<file path=ppt/charts/_rels/chart3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2.xlsx"/></Relationships>
</file>

<file path=ppt/charts/_rels/chart3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3.xlsx"/></Relationships>
</file>

<file path=ppt/charts/_rels/chart3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4.xlsx"/></Relationships>
</file>

<file path=ppt/charts/_rels/chart3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5.xlsx"/></Relationships>
</file>

<file path=ppt/charts/_rels/chart3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6.xlsx"/></Relationships>
</file>

<file path=ppt/charts/_rels/chart3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7.xlsx"/></Relationships>
</file>

<file path=ppt/charts/_rels/chart3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8.xlsx"/></Relationships>
</file>

<file path=ppt/charts/_rels/chart3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9.xlsx"/></Relationships>
</file>

<file path=ppt/charts/_rels/chart4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0.xlsx"/></Relationships>
</file>

<file path=ppt/charts/_rels/chart4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1.xlsx"/></Relationships>
</file>

<file path=ppt/charts/_rels/chart4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2.xlsx"/></Relationships>
</file>

<file path=ppt/charts/_rels/chart4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3.xlsx"/></Relationships>
</file>

<file path=ppt/charts/_rels/chart4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4.xlsx"/></Relationships>
</file>

<file path=ppt/charts/_rels/chart4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5.xlsx"/></Relationships>
</file>

<file path=ppt/charts/_rels/chart4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6.xlsx"/></Relationships>
</file>

<file path=ppt/charts/_rels/chart4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7.xlsx"/></Relationships>
</file>

<file path=ppt/charts/_rels/chart4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8.xlsx"/></Relationships>
</file>

<file path=ppt/charts/_rels/chart4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9.xlsx"/></Relationships>
</file>

<file path=ppt/charts/_rels/chart5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0.xlsx"/></Relationships>
</file>

<file path=ppt/charts/_rels/chart5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1.xlsx"/></Relationships>
</file>

<file path=ppt/charts/_rels/chart5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2.xlsx"/></Relationships>
</file>

<file path=ppt/charts/_rels/chart5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3.xlsx"/></Relationships>
</file>

<file path=ppt/charts/_rels/chart5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4.xlsx"/></Relationships>
</file>

<file path=ppt/charts/_rels/chart5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5.xlsx"/></Relationships>
</file>

<file path=ppt/charts/_rels/chart5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6.xlsx"/></Relationships>
</file>

<file path=ppt/charts/_rels/chart5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7.xlsx"/></Relationships>
</file>

<file path=ppt/charts/_rels/chart5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8.xlsx"/></Relationships>
</file>

<file path=ppt/charts/_rels/chart5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9.xlsx"/></Relationships>
</file>

<file path=ppt/charts/_rels/chart6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0.xlsx"/></Relationships>
</file>

<file path=ppt/charts/_rels/chart6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1.xlsx"/></Relationships>
</file>

<file path=ppt/charts/_rels/chart6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2.xlsx"/></Relationships>
</file>

<file path=ppt/charts/_rels/chart6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3.xlsx"/></Relationships>
</file>

<file path=ppt/charts/_rels/chart6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4.xlsx"/></Relationships>
</file>

<file path=ppt/charts/_rels/chart6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5.xlsx"/></Relationships>
</file>

<file path=ppt/charts/_rels/chart6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6.xlsx"/></Relationships>
</file>

<file path=ppt/charts/_rels/chart6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7.xlsx"/></Relationships>
</file>

<file path=ppt/charts/_rels/chart6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8.xlsx"/></Relationships>
</file>

<file path=ppt/charts/_rels/chart6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9.xlsx"/></Relationships>
</file>

<file path=ppt/charts/_rels/chart7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0.xlsx"/></Relationships>
</file>

<file path=ppt/charts/_rels/chart7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1.xlsx"/></Relationships>
</file>

<file path=ppt/charts/_rels/chart7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2.xlsx"/></Relationships>
</file>

<file path=ppt/charts/_rels/chart7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3.xlsx"/></Relationships>
</file>

<file path=ppt/charts/_rels/chart7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4.xlsx"/></Relationships>
</file>

<file path=ppt/charts/_rels/chart7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5.xlsx"/></Relationships>
</file>

<file path=ppt/charts/_rels/chart7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6.xlsx"/></Relationships>
</file>

<file path=ppt/charts/_rels/chart7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7.xlsx"/></Relationships>
</file>

<file path=ppt/charts/_rels/chart7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8.xlsx"/></Relationships>
</file>

<file path=ppt/charts/_rels/chart7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9.xlsx"/></Relationships>
</file>

<file path=ppt/charts/_rels/chart8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0.xlsx"/></Relationships>
</file>

<file path=ppt/charts/_rels/chart8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1.xlsx"/></Relationships>
</file>

<file path=ppt/charts/_rels/chart8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2.xlsx"/></Relationships>
</file>

<file path=ppt/charts/_rels/chart8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3.xlsx"/></Relationships>
</file>

<file path=ppt/charts/_rels/chart8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4.xlsx"/></Relationships>
</file>

<file path=ppt/charts/_rels/chart8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5.xlsx"/></Relationships>
</file>

<file path=ppt/charts/_rels/chart8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6.xlsx"/></Relationships>
</file>

<file path=ppt/charts/_rels/chart8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7.xlsx"/></Relationships>
</file>

<file path=ppt/charts/_rels/chart8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8.xlsx"/></Relationships>
</file>

<file path=ppt/charts/_rels/chart8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9.xlsx"/></Relationships>
</file>

<file path=ppt/charts/_rels/chart9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0.xlsx"/></Relationships>
</file>

<file path=ppt/charts/_rels/chart9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1.xlsx"/></Relationships>
</file>

<file path=ppt/charts/_rels/chart9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2.xlsx"/></Relationships>
</file>

<file path=ppt/charts/_rels/chart9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3.xlsx"/></Relationships>
</file>

<file path=ppt/charts/_rels/chart9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4.xlsx"/></Relationships>
</file>

<file path=ppt/charts/_rels/chart9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5.xlsx"/></Relationships>
</file>

<file path=ppt/charts/_rels/chart9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67</c:v>
                </c:pt>
                <c:pt idx="2">
                  <c:v>72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60</c:v>
                </c:pt>
                <c:pt idx="2">
                  <c:v>79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73</c:v>
                </c:pt>
                <c:pt idx="2">
                  <c:v>81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71</c:v>
                </c:pt>
                <c:pt idx="2">
                  <c:v>83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67</c:v>
                </c:pt>
                <c:pt idx="2">
                  <c:v>86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69</c:v>
                </c:pt>
                <c:pt idx="2">
                  <c:v>78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71</c:v>
                </c:pt>
                <c:pt idx="2">
                  <c:v>80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59</c:v>
                </c:pt>
                <c:pt idx="2">
                  <c:v>86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60</c:v>
                </c:pt>
                <c:pt idx="2">
                  <c:v>73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64</c:v>
                </c:pt>
                <c:pt idx="2">
                  <c:v>72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72</c:v>
                </c:pt>
                <c:pt idx="2">
                  <c:v>74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66</c:v>
                </c:pt>
                <c:pt idx="2">
                  <c:v>83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71</c:v>
                </c:pt>
                <c:pt idx="2">
                  <c:v>83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59</c:v>
                </c:pt>
                <c:pt idx="2">
                  <c:v>82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69</c:v>
                </c:pt>
                <c:pt idx="2">
                  <c:v>79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58</c:v>
                </c:pt>
                <c:pt idx="2">
                  <c:v>80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73</c:v>
                </c:pt>
                <c:pt idx="2">
                  <c:v>74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69</c:v>
                </c:pt>
                <c:pt idx="2">
                  <c:v>86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69</c:v>
                </c:pt>
                <c:pt idx="2">
                  <c:v>84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68</c:v>
                </c:pt>
                <c:pt idx="2">
                  <c:v>74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58</c:v>
                </c:pt>
                <c:pt idx="2">
                  <c:v>79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61</c:v>
                </c:pt>
                <c:pt idx="2">
                  <c:v>85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63</c:v>
                </c:pt>
                <c:pt idx="2">
                  <c:v>74</c:v>
                </c:pt>
                <c:pt idx="3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898B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73</c:v>
                </c:pt>
                <c:pt idx="2">
                  <c:v>85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58</c:v>
                </c:pt>
                <c:pt idx="2">
                  <c:v>84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66</c:v>
                </c:pt>
                <c:pt idx="2">
                  <c:v>84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70</c:v>
                </c:pt>
                <c:pt idx="2">
                  <c:v>83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71</c:v>
                </c:pt>
                <c:pt idx="2">
                  <c:v>82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63</c:v>
                </c:pt>
                <c:pt idx="2">
                  <c:v>86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64</c:v>
                </c:pt>
                <c:pt idx="2">
                  <c:v>79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59</c:v>
                </c:pt>
                <c:pt idx="2">
                  <c:v>78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69</c:v>
                </c:pt>
                <c:pt idx="2">
                  <c:v>75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62</c:v>
                </c:pt>
                <c:pt idx="2">
                  <c:v>77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67</c:v>
                </c:pt>
                <c:pt idx="2">
                  <c:v>74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68</c:v>
                </c:pt>
                <c:pt idx="2">
                  <c:v>84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59</c:v>
                </c:pt>
                <c:pt idx="2">
                  <c:v>78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61</c:v>
                </c:pt>
                <c:pt idx="2">
                  <c:v>73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67</c:v>
                </c:pt>
                <c:pt idx="2">
                  <c:v>77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</c:v>
                </c:pt>
                <c:pt idx="1">
                  <c:v>67</c:v>
                </c:pt>
                <c:pt idx="2">
                  <c:v>76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65</c:v>
                </c:pt>
                <c:pt idx="2">
                  <c:v>80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69</c:v>
                </c:pt>
                <c:pt idx="2">
                  <c:v>81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68</c:v>
                </c:pt>
                <c:pt idx="2">
                  <c:v>79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59</c:v>
                </c:pt>
                <c:pt idx="1">
                  <c:v>72</c:v>
                </c:pt>
                <c:pt idx="2">
                  <c:v>86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62</c:v>
                </c:pt>
                <c:pt idx="2">
                  <c:v>72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58</c:v>
                </c:pt>
                <c:pt idx="1">
                  <c:v>68</c:v>
                </c:pt>
                <c:pt idx="2">
                  <c:v>84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61</c:v>
                </c:pt>
                <c:pt idx="2">
                  <c:v>79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68</c:v>
                </c:pt>
                <c:pt idx="2">
                  <c:v>85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00B8D4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67</c:v>
                </c:pt>
                <c:pt idx="2">
                  <c:v>83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64</c:v>
                </c:pt>
                <c:pt idx="2">
                  <c:v>74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70</c:v>
                </c:pt>
                <c:pt idx="2">
                  <c:v>74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73</c:v>
                </c:pt>
                <c:pt idx="2">
                  <c:v>85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63</c:v>
                </c:pt>
                <c:pt idx="2">
                  <c:v>79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58</c:v>
                </c:pt>
                <c:pt idx="2">
                  <c:v>73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67</c:v>
                </c:pt>
                <c:pt idx="1">
                  <c:v>63</c:v>
                </c:pt>
                <c:pt idx="2">
                  <c:v>80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67</c:v>
                </c:pt>
                <c:pt idx="2">
                  <c:v>75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58</c:v>
                </c:pt>
                <c:pt idx="2">
                  <c:v>84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63</c:v>
                </c:pt>
                <c:pt idx="2">
                  <c:v>86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72</c:v>
                </c:pt>
                <c:pt idx="2">
                  <c:v>86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68</c:v>
                </c:pt>
                <c:pt idx="2">
                  <c:v>78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73</c:v>
                </c:pt>
                <c:pt idx="2">
                  <c:v>83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59</c:v>
                </c:pt>
                <c:pt idx="2">
                  <c:v>74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65</c:v>
                </c:pt>
                <c:pt idx="2">
                  <c:v>77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70</c:v>
                </c:pt>
                <c:pt idx="2">
                  <c:v>75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73</c:v>
                </c:pt>
                <c:pt idx="2">
                  <c:v>84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73</c:v>
                </c:pt>
                <c:pt idx="2">
                  <c:v>82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65</c:v>
                </c:pt>
                <c:pt idx="2">
                  <c:v>76</c:v>
                </c:pt>
                <c:pt idx="3">
                  <c:v>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62</c:v>
                </c:pt>
                <c:pt idx="2">
                  <c:v>77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</c:v>
                </c:pt>
                <c:pt idx="1">
                  <c:v>58</c:v>
                </c:pt>
                <c:pt idx="2">
                  <c:v>86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65</c:v>
                </c:pt>
                <c:pt idx="2">
                  <c:v>86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</c:v>
                </c:pt>
                <c:pt idx="1">
                  <c:v>66</c:v>
                </c:pt>
                <c:pt idx="2">
                  <c:v>86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3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68</c:v>
                </c:pt>
                <c:pt idx="2">
                  <c:v>85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6D4AC9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62</c:v>
                </c:pt>
                <c:pt idx="2">
                  <c:v>73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71</c:v>
                </c:pt>
                <c:pt idx="2">
                  <c:v>74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73</c:v>
                </c:pt>
                <c:pt idx="2">
                  <c:v>86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70</c:v>
                </c:pt>
                <c:pt idx="2">
                  <c:v>73</c:v>
                </c:pt>
                <c:pt idx="3">
                  <c:v>90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74</c:v>
                </c:pt>
                <c:pt idx="2">
                  <c:v>79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72</c:v>
                </c:pt>
                <c:pt idx="2">
                  <c:v>85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73</c:v>
                </c:pt>
                <c:pt idx="2">
                  <c:v>85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58</c:v>
                </c:pt>
                <c:pt idx="2">
                  <c:v>78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63</c:v>
                </c:pt>
                <c:pt idx="2">
                  <c:v>73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68</c:v>
                </c:pt>
                <c:pt idx="2">
                  <c:v>84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71</c:v>
                </c:pt>
                <c:pt idx="2">
                  <c:v>76</c:v>
                </c:pt>
                <c:pt idx="3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</c:v>
                </c:pt>
                <c:pt idx="1">
                  <c:v>69</c:v>
                </c:pt>
                <c:pt idx="2">
                  <c:v>72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68</c:v>
                </c:pt>
                <c:pt idx="2">
                  <c:v>77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58</c:v>
                </c:pt>
                <c:pt idx="2">
                  <c:v>76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</c:v>
                </c:pt>
                <c:pt idx="1">
                  <c:v>64</c:v>
                </c:pt>
                <c:pt idx="2">
                  <c:v>80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54</c:v>
                </c:pt>
                <c:pt idx="1">
                  <c:v>70</c:v>
                </c:pt>
                <c:pt idx="2">
                  <c:v>75</c:v>
                </c:pt>
                <c:pt idx="3">
                  <c:v>91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1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65</c:v>
                </c:pt>
                <c:pt idx="2">
                  <c:v>72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</c:v>
                </c:pt>
                <c:pt idx="1">
                  <c:v>68</c:v>
                </c:pt>
                <c:pt idx="2">
                  <c:v>72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73</c:v>
                </c:pt>
                <c:pt idx="2">
                  <c:v>80</c:v>
                </c:pt>
                <c:pt idx="3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56</c:v>
                </c:pt>
                <c:pt idx="1">
                  <c:v>60</c:v>
                </c:pt>
                <c:pt idx="2">
                  <c:v>77</c:v>
                </c:pt>
                <c:pt idx="3">
                  <c:v>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2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55</c:v>
                </c:pt>
                <c:pt idx="1">
                  <c:v>61</c:v>
                </c:pt>
                <c:pt idx="2">
                  <c:v>74</c:v>
                </c:pt>
                <c:pt idx="3">
                  <c:v>89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</c:v>
                </c:pt>
                <c:pt idx="1">
                  <c:v>59</c:v>
                </c:pt>
                <c:pt idx="2">
                  <c:v>79</c:v>
                </c:pt>
                <c:pt idx="3">
                  <c:v>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6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64</c:v>
                </c:pt>
                <c:pt idx="2">
                  <c:v>83</c:v>
                </c:pt>
                <c:pt idx="3">
                  <c:v>88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65</c:v>
                </c:pt>
                <c:pt idx="1">
                  <c:v>68</c:v>
                </c:pt>
                <c:pt idx="2">
                  <c:v>75</c:v>
                </c:pt>
                <c:pt idx="3">
                  <c:v>94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4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9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Observed</c:v>
                </c:pt>
              </c:strCache>
            </c:strRef>
          </c:tx>
          <c:spPr>
            <a:solidFill>
              <a:srgbClr val="F09C22"/>
            </a:solidFill>
          </c:spPr>
          <c:dLbls>
            <c:txPr>
              <a:bodyPr/>
              <a:lstStyle/>
              <a:p>
                <a:pPr>
                  <a:defRPr sz="900"/>
                </a:pPr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</c:v>
                </c:pt>
                <c:pt idx="1">
                  <c:v>71</c:v>
                </c:pt>
                <c:pt idx="2">
                  <c:v>77</c:v>
                </c:pt>
                <c:pt idx="3">
                  <c:v>97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Decision threshold</c:v>
                </c:pt>
              </c:strCache>
            </c:strRef>
          </c:tx>
          <c:spPr>
            <a:solidFill>
              <a:srgbClr val="F09C22"/>
            </a:solidFill>
          </c:spPr>
          <c:cat>
            <c:strRef>
              <c:f>Sheet1!$A$2:$A$5</c:f>
              <c:strCache>
                <c:ptCount val="4"/>
                <c:pt idx="0">
                  <c:v>Baseline</c:v>
                </c:pt>
                <c:pt idx="1">
                  <c:v>Attack test</c:v>
                </c:pt>
                <c:pt idx="2">
                  <c:v>Control enabled</c:v>
                </c:pt>
                <c:pt idx="3">
                  <c:v>Verified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7.0"/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2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5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0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2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4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5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6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8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9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0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3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4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5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6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8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9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0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3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4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5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6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7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8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9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0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1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3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4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5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6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7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8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9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0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1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3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4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5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6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7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8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9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0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1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3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4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5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6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7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8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9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0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1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2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3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4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5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6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7.xml"/></Relationships>
</file>

<file path=ppt/slides/_rels/slide4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8.xml"/></Relationships>
</file>

<file path=ppt/slides/_rels/slide4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9.xml"/></Relationships>
</file>

<file path=ppt/slides/_rels/slide4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0.xml"/></Relationships>
</file>

<file path=ppt/slides/_rels/slide4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1.xml"/></Relationships>
</file>

<file path=ppt/slides/_rels/slide4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2.xml"/></Relationships>
</file>

<file path=ppt/slides/_rels/slide4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3.xml"/></Relationships>
</file>

<file path=ppt/slides/_rels/slide4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4.xml"/></Relationships>
</file>

<file path=ppt/slides/_rels/slide4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5.xml"/></Relationships>
</file>

<file path=ppt/slides/_rels/slide4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6.xml"/></Relationships>
</file>

<file path=ppt/slides/_rels/slide4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4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1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72084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502920"/>
            <a:ext cx="603504" cy="603504"/>
          </a:xfrm>
          <a:prstGeom prst="rect">
            <a:avLst/>
          </a:prstGeom>
        </p:spPr>
      </p:pic>
      <p:pic>
        <p:nvPicPr>
          <p:cNvPr id="6" name="Picture 5" descr="autonomous-agent-security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7088" y="438912"/>
            <a:ext cx="731520" cy="731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" y="1508760"/>
            <a:ext cx="5669280" cy="32918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WSQ COURSE SLIDES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1965960"/>
            <a:ext cx="5806440" cy="1874519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700" b="1">
                <a:solidFill>
                  <a:srgbClr val="0B1F33"/>
                </a:solidFill>
                <a:latin typeface="Aptos"/>
              </a:rPr>
              <a:t>Security Operations for Autonomous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4944" y="4133087"/>
            <a:ext cx="5440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152335"/>
                </a:solidFill>
                <a:latin typeface="Aptos"/>
              </a:rPr>
              <a:t>WSQ Course Code: TGS-2024042604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617720"/>
            <a:ext cx="5440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0">
                <a:solidFill>
                  <a:srgbClr val="5B6776"/>
                </a:solidFill>
                <a:latin typeface="Aptos"/>
              </a:rPr>
              <a:t>4 days · 32 hours · Intermediate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5230368"/>
            <a:ext cx="5440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Version v1.0 · 12 September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" y="5806440"/>
            <a:ext cx="544068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0">
                <a:solidFill>
                  <a:srgbClr val="5B6776"/>
                </a:solidFill>
                <a:latin typeface="Aptos"/>
              </a:rPr>
              <a:t>Conducted by Tertiary Infotech Academy Pte Ltd · UEN 201200696W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1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Welcome and course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Attendance · outcomes · assessment · learner systems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</a:t>
            </a:r>
          </a:p>
        </p:txBody>
      </p:sp>
    </p:spTree>
  </p:cSld>
  <p:transition spd="fast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TRAQOM · SSG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Digital attendance (mandatory)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course administration requirements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Scan the trainer-displayed SSG attendance QR code.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Complete the second attendance event after lunch.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Record attendance for the assessment session.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Minimum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At least 75% attendance is required.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Confirm the successful attendance screen.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Escalation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Tell the trainer immediately if the scan fails.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5B6776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About the trainer —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5B6776"/>
                </a:solidFill>
                <a:latin typeface="Aptos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Tertiary Infotech trainer profile template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Designation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Qualifications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Industry experience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Security expertise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Contact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________________________________</a:t>
            </a:r>
          </a:p>
        </p:txBody>
      </p:sp>
      <p:sp>
        <p:nvSpPr>
          <p:cNvPr id="53" name="Oval 52"/>
          <p:cNvSpPr/>
          <p:nvPr/>
        </p:nvSpPr>
        <p:spPr>
          <a:xfrm>
            <a:off x="10826496" y="548640"/>
            <a:ext cx="530352" cy="530352"/>
          </a:xfrm>
          <a:prstGeom prst="ellipse">
            <a:avLst/>
          </a:prstGeom>
          <a:solidFill>
            <a:srgbClr val="5B67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?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About the trainer — Dr Alfred Ang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Tertiary Infotech course administration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Principal Trainer and courseware developer at Tertiary Infotech Academy.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Focus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Applied AI, cybersecurity, software engineering and hands-on technical learning.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Teaching approach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Mechanism-led explanation, reproducible activities and evidence-based verification.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Learner support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Clarification during class and post-course support through the academy.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Course role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Connect security strategy and governance to practical autonomous-agent operations.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Contact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enquiry@tertiaryinfotech.com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LMS / TMS · VISUAL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Download your course material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Tertiary Infotech LMS/TMS workflow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Open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lms-tms.tertiaryinfotech.com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Sign 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your registered account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Select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Open this course record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Download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Slides, Learner Guide and activities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Check title, code and version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Use only files labelled Security Operations for Autonomous AI Agents · TGS-2024042604.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SECURITY STRATEGY · ICT-SNA-5021-1.1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Skills Framework alignment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· Skills Framework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Goal setting and objectives of organisation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K2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Information security and assurance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K3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Best practices in information security policies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K4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Best practices and emerging technologies in security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K5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Knowledge of security management benchmarks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K6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Gap analysis in organisation security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SECURITY STRATEGY · ICT-SNA-5021-1.1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Skills Framework alignment —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· Skills Framework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Implications and impact of security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A1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Formulate security goals and objectives from business priorities, security vision, strategy directions and management benchmarks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Establish standards and practices that protect information integrity, authenticity and confidentiality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Manage compliance with information-security guidelines and classification or permission rules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Lead communication of security goals and objectives to the organisation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A5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Review existing security controls against current and future business costs and risks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SECURITY STRATEGY · ICT-SNA-5021-1.1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Skills Framework alignment — strategy and operations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and verified legacy assessment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A6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Develop strategies and plans to resolve security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A7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Drive organisation-wide security initiatives in line with internal and external standards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WA: K1–K7 · PP: A1–A7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Course evidence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Ten activities produce reproducible control artifacts.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Alignment gate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Nothing assessed is absent from the slides and activities.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Terminology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Every hands-on lab is presented as an Activity.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WHAT YOU WILL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Learning outcomes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current course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LO1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Formulate comprehensive security goals and establish business standards with an overarching security vision for autonomous AI agents.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LO2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Communicate effective agent-security policies and practices, and manage compliance with best practices and technological advancements.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LO3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Evaluate existing agent-security controls against business risks and costs, and develop strategies to resolve identified security gaps.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LO4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Implement organisation-wide agent-security initiatives, assessing and addressing the impact of security gaps.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FOUR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Course outline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current course page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Topic 01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Security Strategy and Standards for Autonomous AI Agents — Agent inventory · security objectives · identity · tools · data · resilience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Topic 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Agent Security Policies, Governance and Compliance — Policy-as-code · evidence · permissions · assurance · communication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Topic 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AI Agent Risk Assessment and Security Control Evaluation — Threat paths · risk quantification · control effectiveness · remediation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Topic 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Implementing and Monitoring Organisation-Wide Agent Security Operations — Telemetry · detection · incident response · containment · recovery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32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Four-day learning journey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course duration and aligned lesson plan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Day 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Strategy, inventory, identity and standards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Day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Policy, governance, compliance and communication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Day 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Threat modelling, risk and remediation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Day 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Monitoring, incident response and assessment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Each day contains 8 scheduled hours excluding lunch; detailed timing is in the Lesson Plan.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BEFORE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Briefing for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Verified legacy assessment instructions and house standard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Individual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Complete each instrument independently.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Open book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the course slides, Learner Guide and approved materials.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No recording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Do not photograph or copy the assessment scripts.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Submission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Upload the completed documents to the LMS/TMS.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Decision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Results are Competent or Not Yet Competent.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Clarification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Oral clarification may close minor gaps where authorised.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WA + PRACTICAL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Assessment instruments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Verified legacy assessment papers downloaded from the supplied course Drive folder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WA (SAQ)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7 open-ended questions · K1–K7 · 1 hour.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6 practical tasks · A1–A7 · 3 hours as stated by the verified legacy paper.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Question papers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Learner-facing candidate documents only.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Answer keys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Trainer-only; never attached to GitHub or learner-facing LMS fields.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Alignment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Every WA answer traces to slides; every PP task traces to an activity.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Scripts, mock data and generated artifacts support the PP tasks.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WA → PP → SIGN-OFF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Assessment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WSQ assessment house workflow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7420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71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TRAQOM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Complete required survey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32503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55163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780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4035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Attendance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179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Record assessment attendance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47588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0248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288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Answer 7 knowledge questions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85332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17970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Complete 6 practical tasks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77755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00415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Submit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Upload to LMS/TMS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5499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813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437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Sign-off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3515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Sign Assessment Summary Record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Question papers only are learner-facing; answer keys remain trainer-only.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COURSE ADMINISTRATION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Assessment and funding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current course page and WSQ administration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At least 75% recorded attendance.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Assessment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Complete both WA and PP.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Competence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Meet every required assessment criterion.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Identity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the registered learner identity.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Retain successful digital-attendance confirmations.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Appeal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Follow the documented appeal process if needed.</a:t>
            </a:r>
          </a:p>
        </p:txBody>
      </p:sp>
    </p:spTree>
  </p:cSld>
  <p:transition spd="fast">
    <p:fade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OFFLINE · SELF-CONTAINED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environment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package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Python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Python 3.10 or later; standard library only.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Editor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VS Code or any text editor.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Synthetic JSON, JSONL and CSV files.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Execution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Run activity.py inside each activity folder.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Generated Markdown, CSV, JSON or HTML outputs.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No live credentials, agents, production systems or external APIs.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EXAM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Practice exam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current course page practice-exam link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Portal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https://exams.tertiaryinfotech.com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Practice mode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untimed practice to identify gaps.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Exam mode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timed mode after completing the activities.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Review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Return to the exact slide/activity mapped to each missed criterion.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Scope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K1–K7 knowledge and A1–A7 practical evidence.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Reminder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The portal supports preparation; the official assessment remains WA + PP.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1-control-pla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Security Strategy and Standards for Autonomous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Agent inventory · security objectives · identity · tools · data · resilience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85232"/>
            <a:ext cx="5257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LO1 · K1, K2, A1, A2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20</a:t>
            </a:r>
          </a:p>
        </p:txBody>
      </p:sp>
    </p:spTree>
  </p:cSld>
  <p:transition spd="fast">
    <p:push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TOPIC 01 ·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LO1 and assessment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criteria adapted to the autonomous-agent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Goal setting and objectives of organisation security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K2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Information security and assurance strategy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Formulate security goals and objectives from business priorities, security vision, strategy directions and management benchmarks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Establish standards and practices that protect information integrity, authenticity and confidentiality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LO1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LO1: Formulate comprehensive security goals and establish business standards with an overarching security vision for autonomous AI agents.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FIVE-LAYER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Strategy and Standards for Autonomous AI Agents: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Courseware-build mechanism-level coverage contract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Components, interfaces and ownership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States, transitions and decision points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Fields, rules, thresholds and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Attack path, diagnostic and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Acceptance test and activity artifact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Every mechanism in this topic is taught through all five layers.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inventory: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Registry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registry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owner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Data Stores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data stores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Block deployment unless registry.status=approved and owner is active</a:t>
            </a:r>
          </a:p>
        </p:txBody>
      </p:sp>
    </p:spTree>
  </p:cSld>
  <p:transition spd="fast">
    <p:fade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inventory: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registry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Block deployment unless registry.status=approved and owner is active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data stores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100% of running agent_id values resolve to one current owner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Unregistered shadow agent reaches a production connector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inventory: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data_classes[]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inventory: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100% of running agent_id values resolve to one current owner.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Business impact mapping: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Business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business service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Task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task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Dependent Process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dependent process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Customer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customer impact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Assign RTO/RPO and a manual fallback before production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Business impact mapping: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business service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Assign RTO/RPO and a manual fallback before production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customer impact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Observed recovery time ≤ approved RTO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outage exceeds the process recovery objective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Business impact mapping: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service_id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process_rto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data_rpo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maximum_loss_sgd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criticality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Business impact mapping: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Observed recovery time ≤ approved RTO.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objective hierarchy: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Business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business objective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Security Goal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security goal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Control 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objective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Metric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metric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Write SMART control objectives with a named evidence source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objective hierarchy: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Write SMART control objectives with a named evidence source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metric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Every objective has one owner, threshold and review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vague goal cannot be tested or owned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objective hierarchy: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objective_id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sponsor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target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due_date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evidence_source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objective hierarchy: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Every objective has one owner, threshold and review date.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classification: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Input Sources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input sources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classifier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Labelled 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labelled context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Output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Retention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retention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Enforce label-aware routing, redaction and retention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classification: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input sources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Enforce label-aware routing, redaction and retention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retention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0 restricted records leave an approved processing boundary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Restricted data is inserted into an unapproved prompt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classification: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 ∈ {public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internal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confidential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restricted}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retention_days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classification: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0 restricted records leave an approved processing boundary.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Trust-boundary map: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User Zone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 zone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runtime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Policy Gateway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gateway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Zone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zone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External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external service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Place authentication, authorisation and logging at every crossing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Trust-boundary map: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 zone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Place authentication, authorisation and logging at every crossing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external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Each cross-zone flow maps to a tested control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tool call crosses a boundary without an enforcement point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Trust-boundary map: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boundary_id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source_zone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target_zone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protocol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authn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authz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Trust-boundary map: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Each cross-zone flow maps to a tested control.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Workload identity: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Orchestrator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orchestrator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Identity 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identity provider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Short-Lived Token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short-lived token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Resource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resource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Issue a unique workload identity and scoped token per agent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Workload identity: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orchestrator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Issue a unique workload identity and scoped token per agent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resource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Token subject uniquely identifies the calling agent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Several agents share one service-account credential</a:t>
            </a:r>
          </a:p>
        </p:txBody>
      </p:sp>
    </p:spTree>
  </p:cSld>
  <p:transition spd="fast">
    <p:fade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Workload identity: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subject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audience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ttl_seconds≤900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scopes[]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Workload identity: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Token subject uniquely identifies the calling agent.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lifecycle: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vault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Broker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broker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Ephemeral 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ephemeral session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Revocation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revocation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vault references and just-in-time retrieval outside model context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lifecycle: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vault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vault references and just-in-time retrieval outside model context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revocation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Secret scan=0 and rotation age≤policy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credential appears in prompt context or source code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lifecycle: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secret_ref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issued_at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expires_at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rotation_days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last_access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lifecycle: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Secret scan=0 and rotation age≤policy.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registry: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Package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package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Provenance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provenance check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Capability Record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capability record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Approval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Runtime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Verify hash and capability manifest before registration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registry: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package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Verify hash and capability manifest before registration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Runtime hash equals approved registry hash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renamed tool adds an undeclared destructive capability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registry: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publisher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capabilities[]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risk_tier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registry: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Runtime hash equals approved registry hash.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allowlist: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Planner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Policy Decision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decision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Argument Validation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argument validation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Execution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execution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Deny by default; match identity, action and resource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allowlist: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planner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Deny by default; match identity, action and resource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Unauthorised test calls are denied and logged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Model selects a valid but unauthorised administrative tool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allowlist: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policy_version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allowlist: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Unauthorised test calls are denied and logged.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taxonomy: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Action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action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Risk Classifier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classifier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Approver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Signed 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signed 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Require signed, time-bound approval for irreversible actions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taxonomy: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action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 signed, time-bound approval for irreversible actions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100% tier-3 executions carry a valid approval_id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High-impact action runs without human confirmation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taxonomy: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risk_tier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approval_required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approver_role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timeout_seconds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taxonomy: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100% tier-3 executions carry a valid approval_id.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isolation: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Session Memory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session 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Tenant Partition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tenant partition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Encrypted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encrypted store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Retrieval Filter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retrieval filter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Partition by tenant and session; filter before retrieval</a:t>
            </a:r>
          </a:p>
        </p:txBody>
      </p:sp>
    </p:spTree>
  </p:cSld>
  <p:transition spd="fast">
    <p:fade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isolation: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session memory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Partition by tenant and session; filter before retrieval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retrieval filter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Cross-tenant retrieval test returns zero records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One tenant retrieves another tenant's memory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isolation: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tenant_id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session_id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namespace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classification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expires_at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isolation: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Cross-tenant retrieval test returns zero records.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lifetime: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Login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login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Session Token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session token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Loop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loop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Idle Timer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idle timer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Termination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termination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Cap age, idle time and maximum autonomous steps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lifetime: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login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Cap age, idle time and maximum autonomous steps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termination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Expired sessions reject the next tool call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forgotten session remains capable overnight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lifetime: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session_id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created_at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last_active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max_age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idle_timeout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step_count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lifetime: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Expired sessions reject the next tool call.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Egress control: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Sandbox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sandbox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Dns 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DNS proxy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Http Proxy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HTTP proxy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Destination Allowlist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destination allowlist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Internet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internet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Deny unknown destinations and inspect outbound payload metadata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Egress control: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sandbox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Deny unknown destinations and inspect outbound payload metadata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internet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Blocked egress increments alert and transfers zero bytes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sends confidential content to an attacker domain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Egress control: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bytes_out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Egress control: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Blocked egress increments alert and transfers zero bytes.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profile: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Namespace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namespace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Filesystem Mount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filesystem mount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Network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network policy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Resource Quota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resource quota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Run non-root with read-only root and restricted syscalls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profile: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 non-root with read-only root and restricted syscalls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resource quota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Escape tests fail; quota breach terminates only the sandbox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Generated code writes outside its workspace or escapes to host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profile: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image_digest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uid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readonly_root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cpu_limit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memory_mb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network_profile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profile: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Escape tests fail; quota breach terminates only the sandbox.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Artifact provenance: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Signer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signer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Build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build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Attestation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attestation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Deployment Verifier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deployment verifier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Require signed provenance tied to source and builder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Artifact provenance: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 signed provenance tied to source and builder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deployment verifier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Deploy verifier rejects missing or mismatched attestations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An unsigned prompt/tool bundle reaches production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Artifact provenance: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artifact_digest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source_commit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builder_id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signature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predicate_type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Artifact provenance: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Deploy verifier rejects missing or mismatched attestations.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AI bill of materials: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7420" y="3090672"/>
            <a:ext cx="237743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71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32503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55163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780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4035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179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prompt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47588" y="3090672"/>
            <a:ext cx="237743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0248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288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85332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17970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Libraries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libraries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77755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00415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Datasets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datasets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5499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813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437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External Apis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3515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external APIs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Maintain an AI BOM and rescan on every release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AI bill of materials: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Maintain an AI BOM and rescan on every release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external APIs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All deployed components have versions and scan timestamps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Vulnerable dependency or changed model is invisible</a:t>
            </a:r>
          </a:p>
        </p:txBody>
      </p:sp>
    </p:spTree>
  </p:cSld>
  <p:transition spd="fast">
    <p:fade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AI bill of materials: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supplier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licence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vulnerability_status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AI bill of materials: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All deployed components have versions and scan timestamps.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Supplier assurance: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Provider Questionnaire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provider questionnaire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Evidence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Contract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contract controls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Contract for notification, data handling, logs and exit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Supplier assurance: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provider questionnaire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Contract for notification, data handling, logs and exit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monitoring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Quarterly review closes high-risk findings by due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External model provider changes retention or subprocessor terms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Supplier assurance: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supplier_id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service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data_region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subprocessors[]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SLA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exit_plan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Supplier assurance: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Quarterly review closes high-risk findings by due date.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Risk appetite: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Risk 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scenario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Inherent Score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inherent score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Appetite 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appetite threshold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Response 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response decision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Escalate residual_score&gt;appetite to the risk owner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Risk appetite: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risk scenario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Escalate residual_score&gt;appetite to the risk owner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response 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above-appetite risk lacks a signed treatment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Teams accept high residual risk without authority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Risk appetite: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likelihood_1_5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impact_1_5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inherent_score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appetite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treatment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Risk appetite: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No above-appetite risk lacks a signed treatment.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Confidentiality objective: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Sensitive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sensitive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Authorised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authorised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Controlled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controlled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Recipient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recipient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Apply semantic DLP plus recipient and purpose checks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Confidentiality objective: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sensitive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Apply semantic DLP plus recipient and purpose checks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recipient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Leak test score stays below the approved threshold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paraphrases sensitive content into an allowed channel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Confidentiality objective: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classification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authorised_purposes[]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recipient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redactions[]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leak_score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Confidentiality objective: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Leak test score stays below the approved threshold.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Integrity objective: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Trusted Instruction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trusted instruction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Arguments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arguments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State Change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state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Verification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verification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Bind approved intent to arguments and verify post-condition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Integrity objective: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trusted instruction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Bind approved intent to arguments and verify post-condition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Approved and executed argument hashes match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Prompt injection changes the intended transaction parameters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Integrity objective: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request_hash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policy_hash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argument_hash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result_hash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actor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Integrity objective: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Approved and executed argument hashes match.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Authenticity objective: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Human Or 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human or service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Identity Proof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identity proof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Signed Instruction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signed instruction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Verify issuer, audience, nonce and signature before planning</a:t>
            </a:r>
          </a:p>
        </p:txBody>
      </p:sp>
    </p:spTree>
  </p:cSld>
  <p:transition spd="fast">
    <p:fade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Authenticity objective: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human or service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Verify issuer, audience, nonce and signature before planning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Replay and wrong-audience tests are rejected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Spoofed upstream service injects a privileged request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Authenticity objective: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issuer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subject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audience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issued_at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nonce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signature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Authenticity objective: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Replay and wrong-audience tests are rejected.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Availability objective: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Request Queue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request queue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Workers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workers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Model Endpoint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 endpoint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Fallback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fallback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bounded retries, bulkheads and circuit breakers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Availability objective: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request queue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bounded retries, bulkheads and circuit breakers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fallback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Error budget and queue latency remain inside SLO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Retry storm exhausts model and tool quotas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Availability objective: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queue_depth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concurrency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timeout_ms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retry_budget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circuit_state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Availability objective: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Error budget and queue latency remain inside SLO.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Auditability objective: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User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Decisions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decisions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Tool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calls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Outputs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outputs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Immutable Log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immutable log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Correlate decision and execution events under one trace_id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Auditability objective: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Correlate decision and execution events under one trace_id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immutable log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Random sample replays reproduce the ordered action chain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Incident team cannot reconstruct why a tool ran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Auditability objective: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parent_span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actor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Auditability objective: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Random sample replays reproduce the ordered action chain.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Kill-switch baseline: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Soc Command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SOC command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Control Plane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plane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Token Revoke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token revoke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Queue Drain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queue drain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Agent Stop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stop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Implement tested global and per-agent stop paths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Kill-switch baseline: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SOC command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Implement tested global and per-agent stop paths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stop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P95 containment time meets the defined target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continues acting after a critical alert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Kill-switch baseline: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initiated_by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effective_at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Kill-switch baseline: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P95 containment time meets the defined target.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01 — Build an Agent Inventory and Security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activity-01-agent-inventory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mock_agents.json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agent_security_baseline.md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All active agents have an owner, purpose, data class, risk tier and measurable security objective.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01: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mock_agents.json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agent_security_baseline.md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All active agents have an owner, purpose, data class, risk tier and measurable security objective.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01: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mock_agents.json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agent_security_baseline.md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agent_security_baseline.md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02 — Threat-Model Agent Trust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activity-02-trust-boundary-threat-model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mock_dataflows.json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threat_model.json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Every cross-zone flow has authentication, authorisation, encryption and logging controls.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02: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mock_dataflows.json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threat_model.json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Every cross-zone flow has authentication, authorisation, encryption and logging controls.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A1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02: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mock_dataflows.json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threat_model.json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threat_model.json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A2, A3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03 — Enforce Tool and Data Guardrails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activity-03-policy-as-code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mock_requests.json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policy_decisions.csv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Allowed requests execute; restricted data, unlisted tools and missing approvals are denied with reasons.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A2, A3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03: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mock_requests.json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89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policy_decisions.csv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898B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Allowed requests execute; restricted data, unlisted tools and missing approvals are denied with reasons.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A2, A3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03: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00898B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mock_requests.json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policy_decisions.csv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A2, A3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policy_decisions.csv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LO1 · K1, K2, A1,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Topic 01 technical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128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Topic technical-anchor inventory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Confidentiality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Leak test score stays below the approved threshold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Integrity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Approved and executed argument hashes match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Authenticity objective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Replay and wrong-audience tests are rejected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Availability objective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Error budget and queue latency remain inside SLO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Auditability objective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Random sample replays reproduce the ordered action chain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Kill-switch baseline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P95 containment time meets the defined target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2-govern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Agent Security Policies, Governance and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Policy-as-code · evidence · permissions · assurance · communication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85232"/>
            <a:ext cx="5257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LO2 · K3, K4, A3, A4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129</a:t>
            </a:r>
          </a:p>
        </p:txBody>
      </p:sp>
    </p:spTree>
  </p:cSld>
  <p:transition spd="fast">
    <p:push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TOPIC 02 ·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LO2 and assessment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criteria adapted to the autonomous-agent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Best practices in information security policies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K4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Best practices and emerging technologies in security control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Manage compliance with information-security guidelines and classification or permission rules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Lead communication of security goals and objectives to the organisation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LO2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LO2: Communicate effective agent-security policies and practices, and manage compliance with best practices and technological advancements.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FIVE-LAYER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Security Policies, Governance and Compliance: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Courseware-build mechanism-level coverage contract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Components, interfaces and ownership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States, transitions and decision points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Fields, rules, thresholds and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Attack path, diagnostic and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Acceptance test and activity artifact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Every mechanism in this topic is taught through all five layers.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 hierarchy: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Board Principles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board principles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Enterprise Standard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enterprise standard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Agent Policy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policy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Runtime Rule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 rule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Trace every executable rule to an approved parent policy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 hierarchy: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board principles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 every executable rule to an approved parent policy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runtime rule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active rule has an orphaned parent_id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Runtime rules contradict enterprise requirements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 hierarchy: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policy_id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parent_id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effective_date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 hierarchy: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No active rule has an orphaned parent_id.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Policy-as-code: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Repository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repository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Signed Bundle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signed bundle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Policy Decision Point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decision point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Version, test and sign machine-enforced policy bundles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Policy-as-code: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repository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Version, test and sign machine-enforced policy bundles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policy decision point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Policy tests pass and deployed hash matches release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Manual configuration drifts from approved policy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Policy-as-code: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rule_id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input_schema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conditions[]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bundle_hash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Policy-as-code: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Policy tests pass and deployed hash matches release.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Governance RACI: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7420" y="3090672"/>
            <a:ext cx="237743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71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board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32503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55163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780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4035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Risk Owner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179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owner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47588" y="3090672"/>
            <a:ext cx="237743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0248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288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Product Owner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product owner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85332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17970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security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77755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00415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Operations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operations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5499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813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437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3515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audit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Assign one accountable role per lifecycle decision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Governance RACI: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board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Assign one accountable role per lifecycle decision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audit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Every critical decision has exactly one accountable owner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Two teams assume the other owns a risky agent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Governance RACI: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accountable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responsible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consulted[]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informed[]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Governance RACI: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Every critical decision has exactly one accountable owner.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Information handling rules: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Classification 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classification label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Permitted Model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permitted model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Permitted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permitted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Output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output channel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Enforce processor and channel restrictions by label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Information handling rules: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classification label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Enforce processor and channel restrictions by label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output channel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Restricted-label policy tests deny unapproved processors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Restricted records flow to a consumer-grade model endpoint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Information handling rules: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class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allowed_processors[]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allowed_actions[]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retention_days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Information handling rules: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Restricted-label policy tests deny unapproved processors.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Permission recertification: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Entitlement Inventory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entitlement inventory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Owner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owner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Revoke/Retain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revoke/retain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Review high-risk permissions at least quarterly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Permission recertification: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entitlement inventory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Review high-risk permissions at least quarterly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Unused privileged permissions are revoked within SLA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Dormant high-privilege tool scopes remain active</a:t>
            </a:r>
          </a:p>
        </p:txBody>
      </p:sp>
    </p:spTree>
  </p:cSld>
  <p:transition spd="fast">
    <p:fade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Permission recertification: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principal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permission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last_used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Permission recertification: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Unused privileged permissions are revoked within SLA.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ownership: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Control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objective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Control Operator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operator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 Producer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 producer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Risk Owner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owner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Bind control frequency and evidence to named roles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ownership: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objective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Bind control frequency and evidence to named roles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risk owner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Missed control runs create owner alerts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 control exists on paper but nobody operates it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ownership: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control_id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operator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exception_route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ownership: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Missed control runs create owner alerts.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retention: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Event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event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Normaliser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normaliser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Immutable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immutable store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Legal Hold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legal hold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Disposal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disposal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Apply record-specific retention and defensible disposal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retention: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event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Apply record-specific retention and defensible disposal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disposal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Retention and disposal jobs produce signed reports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Evidence is deleted before an investigation or kept indefinitely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retention: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record_type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retention_days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legal_hold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disposal_date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retention: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Retention and disposal jobs produce signed reports.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 event schema: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Agent 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runtime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gateway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Normaliser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normaliser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 Lake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 lake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Adopt required correlation and identity fields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 event schema: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runtime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Adopt required correlation and identity fields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evidence lake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Schema conformance ≥99.5% for critical events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Logs cannot be joined across components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 event schema: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event_time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Audit event schema: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Schema conformance ≥99.5% for critical events.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Privacy minimisation: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Data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data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Field Allowlist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field allowlist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Redaction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redaction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Model Context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 context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Output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Minimise to purpose-required fields before context assembly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Privacy minimisation: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data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Minimise to purpose-required fields before context assembly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output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Approved field allowlist matches observed prompt fields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Entire customer record is sent for a narrow task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Privacy minimisation: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field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necessity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transformation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retention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Privacy minimisation: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Approved field allowlist matches observed prompt fields.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Purpose limitation: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Request 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request purpose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Authorised Use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authorised use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Tool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access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Bind data and tool permissions to a declared purpose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Purpose limitation: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request purpose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Bind data and tool permissions to a declared purpose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Mismatched purpose_id causes a deny decision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reuses data for an unrelated task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Purpose limitation: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purpose_id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lawful_basis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allowed_data[]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allowed_actions[]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expiry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Purpose limitation: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Mismatched purpose_id causes a deny decision.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Change management: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Change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change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Impact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impact analysis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approval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Canary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canary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Rollback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rollback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Treat prompts, policies and tools as controlled changes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Change management: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change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Treat prompts, policies and tools as controlled changes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rollback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Every production diff maps to a change_id and test run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Prompt or tool change silently expands agency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Change management: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change_id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components[]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rollback_ref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Change management: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Every production diff maps to a change_id and test run.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Release gate: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Source Commit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source commit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Red-Team Suite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red-team suite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Policy Checks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checks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Deploy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deploy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Block on critical failures or missing evidence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Release gate: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source commit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Block on critical failures or missing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deploy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Gate records show zero waived critical failures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Known prompt-injection failure ships to production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Release gate: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commit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test_pass_rate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critical_failures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signer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release_decision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Release gate: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Gate records show zero waived critical failures.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Red-team acceptance: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Attack Catalogue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attack catalogue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Test Harness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 harness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Agent Under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under test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Findings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findings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Fix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fix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Maintain regression tests for direct and indirect injection</a:t>
            </a:r>
          </a:p>
        </p:txBody>
      </p:sp>
    </p:spTree>
  </p:cSld>
  <p:transition spd="fast">
    <p:fade/>
  </p:transition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Red-team acceptance: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attack catalogue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Maintain regression tests for direct and indirect injection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Critical attack success rate equals zero at release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Security claims are not challenged with adversarial inputs</a:t>
            </a:r>
          </a:p>
        </p:txBody>
      </p:sp>
    </p:spTree>
  </p:cSld>
  <p:transition spd="fast">
    <p:fade/>
  </p:transition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Red-team acceptance: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attack_class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expected_control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observed_result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Red-team acceptance: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Critical attack success rate equals zero at release.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Third-party service level: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External 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external service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Escalation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escalation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Exit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exit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Contract measurable security and exit obligations</a:t>
            </a:r>
          </a:p>
        </p:txBody>
      </p:sp>
    </p:spTree>
  </p:cSld>
  <p:transition spd="fast">
    <p:fade/>
  </p:transition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Third-party service level: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Contract measurable security and exit obligations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Provider evidence meets each contracted SLA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Provider outage or breach cannot be investigated</a:t>
            </a:r>
          </a:p>
        </p:txBody>
      </p:sp>
    </p:spTree>
  </p:cSld>
  <p:transition spd="fast">
    <p:fade/>
  </p:transition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Third-party service level: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availability_slo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log_access_sla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breach_notice_hours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RTO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export_format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Third-party service level: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Provider evidence meets each contracted SLA.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notification: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detection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Privacy/Security Triage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privacy/security triage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Decision Clock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decision clock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Notification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notification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Start jurisdiction-specific clocks at verified discovery</a:t>
            </a:r>
          </a:p>
        </p:txBody>
      </p:sp>
    </p:spTree>
  </p:cSld>
  <p:transition spd="fast">
    <p:fade/>
  </p:transition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notification: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detection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Start jurisdiction-specific clocks at verified discovery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notification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Decision and notification timestamps are auditable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Notification deadline is missed because ownership is unclear</a:t>
            </a:r>
          </a:p>
        </p:txBody>
      </p:sp>
    </p:spTree>
  </p:cSld>
  <p:transition spd="fast">
    <p:fade/>
  </p:transition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notification: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incident_id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discovered_at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jurisdictions[]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deadline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notification: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Decision and notification timestamps are auditable.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Exception workflow: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Control Failure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failure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Exception Request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exception request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Compensating Control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compensating control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Expiry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expiry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Time-box exceptions and auto-disable at expiry</a:t>
            </a:r>
          </a:p>
        </p:txBody>
      </p:sp>
    </p:spTree>
  </p:cSld>
  <p:transition spd="fast">
    <p:fade/>
  </p:transition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Exception workflow: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failure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Time-box exceptions and auto-disable at expiry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expiry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Zero active exceptions are past expiry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Temporary bypass becomes permanent shadow policy</a:t>
            </a:r>
          </a:p>
        </p:txBody>
      </p:sp>
    </p:spTree>
  </p:cSld>
  <p:transition spd="fast">
    <p:fade/>
  </p:transition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Exception workflow: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exception_id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control_id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rationale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expiry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compensation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Exception workflow: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Zero active exceptions are past expiry.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Framework crosswalk: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Requirement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requirement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Control Objective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objective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Implementation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implementation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Maintain one control-to-framework crosswalk</a:t>
            </a:r>
          </a:p>
        </p:txBody>
      </p:sp>
    </p:spTree>
  </p:cSld>
  <p:transition spd="fast">
    <p:fade/>
  </p:transition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Framework crosswalk: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Maintain one control-to-framework crosswalk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Each applicable clause has current evidence or a gap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Multiple audits ask for duplicate evidence with inconsistent answers</a:t>
            </a:r>
          </a:p>
        </p:txBody>
      </p:sp>
    </p:spTree>
  </p:cSld>
  <p:transition spd="fast">
    <p:fade/>
  </p:transition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Framework crosswalk: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framework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clause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control_id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coverage_status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Framework crosswalk: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199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Each applicable clause has current evidence or a gap.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NIST AI RMF operations: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Govern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GOVERN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Map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MAP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Measure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MEASURE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Manage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MANAGE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Monitoring Feedback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monitoring feedback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Connect RMF outcomes to runtime controls and metrics</a:t>
            </a:r>
          </a:p>
        </p:txBody>
      </p:sp>
    </p:spTree>
  </p:cSld>
  <p:transition spd="fast">
    <p:fade/>
  </p:transition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NIST AI RMF operations: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GOVERN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Connect RMF outcomes to runtime controls and metrics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monitoring feedback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Managed risks show evidence from production monitoring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AI risk process stops at documentation</a:t>
            </a:r>
          </a:p>
        </p:txBody>
      </p:sp>
    </p:spTree>
  </p:cSld>
  <p:transition spd="fast">
    <p:fade/>
  </p:transition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NIST AI RMF operations: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function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category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risk_scenario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response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NIST AI RMF operations: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Managed risks show evidence from production monitoring.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ISO 27001 integration: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Isms 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ISMS 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Risk Treatment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treatment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Annex A Controls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Annex A controls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Evidence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evidence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Add agent assets and treatments to the existing ISMS</a:t>
            </a:r>
          </a:p>
        </p:txBody>
      </p:sp>
    </p:spTree>
  </p:cSld>
  <p:transition spd="fast">
    <p:fade/>
  </p:transition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ISO 27001 integration: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ISMS 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Add agent assets and treatments to the existing ISMS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risks appear in SoA and internal-audit sampling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systems sit outside the established ISMS</a:t>
            </a:r>
          </a:p>
        </p:txBody>
      </p:sp>
    </p:spTree>
  </p:cSld>
  <p:transition spd="fast">
    <p:fade/>
  </p:transition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ISO 27001 integration: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asset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control_ref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statement_of_applicability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ISO 27001 integration: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Agent risks appear in SoA and internal-audit sampling.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Secure development lifecycle: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Design Threat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design threat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Code/Prompt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code/prompt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deploy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Monitor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Apply secure SDLC controls to all agent artifacts</a:t>
            </a:r>
          </a:p>
        </p:txBody>
      </p:sp>
    </p:spTree>
  </p:cSld>
  <p:transition spd="fast">
    <p:fade/>
  </p:transition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Secure development lifecycle: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design threat model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Apply secure SDLC controls to all agent artifacts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monitor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production artifact lacks review and test evidence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Prompt/config changes bypass application security review</a:t>
            </a:r>
          </a:p>
        </p:txBody>
      </p:sp>
    </p:spTree>
  </p:cSld>
  <p:transition spd="fast">
    <p:fade/>
  </p:transition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Secure development lifecycle: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artifact_type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vulnerabilities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approval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Secure development lifecycle: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No production artifact lacks review and test evidence.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Model/version governance: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Approved Model Catalogue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approved model catalogue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Evaluation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evaluation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Pinning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pinning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Monitoring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Pin versions where possible and re-evaluate changes</a:t>
            </a:r>
          </a:p>
        </p:txBody>
      </p:sp>
    </p:spTree>
  </p:cSld>
  <p:transition spd="fast">
    <p:fade/>
  </p:transition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Model/version governance: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approved model catalogue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Pin versions where possible and re-evaluate changes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monitoring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Behavioural regression stays within tolerance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Provider model update changes behaviour unexpectedly</a:t>
            </a:r>
          </a:p>
        </p:txBody>
      </p:sp>
    </p:spTree>
  </p:cSld>
  <p:transition spd="fast">
    <p:fade/>
  </p:transition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Model/version governance: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provider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model_id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eval_set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retirement_date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Model/version governance: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Behavioural regression stays within tolerance.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communication cadence: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Control Owners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owners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Operational Review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operational review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Risk Committee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risk committee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Board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board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Tailor evidence and decisions to each governance layer</a:t>
            </a:r>
          </a:p>
        </p:txBody>
      </p:sp>
    </p:spTree>
  </p:cSld>
  <p:transition spd="fast">
    <p:fade/>
  </p:transition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communication cadence: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owners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Tailor evidence and decisions to each governance layer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board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Actions have owners and due dates after every review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Technical alerts never become business decisions</a:t>
            </a:r>
          </a:p>
        </p:txBody>
      </p:sp>
    </p:spTree>
  </p:cSld>
  <p:transition spd="fast">
    <p:fade/>
  </p:transition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communication cadence: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audience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frequency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metrics[]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action_owner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Security communication cadence: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Actions have owners and due dates after every review.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Assurance dashboard: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Telemetry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telemetry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Tests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Exceptions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exceptions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Incidents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incidents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Governed Metrics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governed metrics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decision-linked leading and lagging indicators</a:t>
            </a:r>
          </a:p>
        </p:txBody>
      </p:sp>
    </p:spTree>
  </p:cSld>
  <p:transition spd="fast">
    <p:fade/>
  </p:transition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Assurance dashboard: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telemetry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decision-linked leading and lagging indicators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governed metrics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Threshold breach triggers a documented 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Vanity metrics hide deteriorating controls</a:t>
            </a:r>
          </a:p>
        </p:txBody>
      </p:sp>
    </p:spTree>
  </p:cSld>
  <p:transition spd="fast">
    <p:fade/>
  </p:transition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Assurance dashboard: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metric_id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numerator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denominator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trend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Assurance dashboard: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Threshold breach triggers a documented action.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Training and tabletop: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Role Profile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role profile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Scenario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scenario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Injects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injects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decisions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After-Action Plan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after-action plan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Rehearse prompt injection and tool abuse quarterly</a:t>
            </a:r>
          </a:p>
        </p:txBody>
      </p:sp>
    </p:spTree>
  </p:cSld>
  <p:transition spd="fast">
    <p:fade/>
  </p:transition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Training and tabletop: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role profile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Rehearse prompt injection and tool abuse quarterly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after-action plan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Closure rate and containment time improve across exercises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Teams know policy but cannot execute containment</a:t>
            </a:r>
          </a:p>
        </p:txBody>
      </p:sp>
    </p:spTree>
  </p:cSld>
  <p:transition spd="fast">
    <p:fade/>
  </p:transition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Training and tabletop: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exercise_id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roles[]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inject_time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gap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due_date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Training and tabletop: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B8D4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Closure rate and containment time improve across exercises.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A3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04 — Assemble a Compliance Evidence Pack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activity-04-compliance-evidence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mock_evidence.json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compliance_report.md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Each required control maps to current evidence, an owner and a status; gaps are explicit.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A3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04: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mock_evidence.json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compliance_report.md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Each required control maps to current evidence, an owner and a status; gaps are explicit.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A3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04: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mock_evidence.json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compliance_report.md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compliance_report.md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A4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05 — Communicate Agent Security Posture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activity-05-security-communication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mock_metrics.csv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security_brief.html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The generated brief shows thresholds, current values, decisions, owners and due dates for two audiences.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A4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05: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mock_metrics.csv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00B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security_brief.html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00B8D4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The generated brief shows thresholds, current values, decisions, owners and due dates for two audiences.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A4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05: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00B8D4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mock_metrics.csv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security_brief.html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security_brief.html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B8D4"/>
                </a:solidFill>
                <a:latin typeface="Aptos"/>
              </a:rPr>
              <a:t>LO2 · K3, K4, A3,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Topic 02 technical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B8D4"/>
                </a:solidFill>
                <a:latin typeface="Aptos"/>
              </a:rPr>
              <a:t>234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Topic technical-anchor inventory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ISO 27001 integration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Agent risks appear in SoA and internal-audit sampling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Secure development lifecycle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No production artifact lacks review and test evidence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Model/version governance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Behavioural regression stays within tolerance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Security communication cadence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Actions have owners and due dates after every review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Assurance dashboard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Threshold breach triggers a documented 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Training and tabletop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Closure rate and containment time improve across exercises</a:t>
            </a:r>
          </a:p>
        </p:txBody>
      </p:sp>
    </p:spTree>
  </p:cSld>
  <p:transition spd="fast">
    <p:fade/>
  </p:transition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3-ri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AI Agent Risk Assessment and Security Control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Threat paths · risk quantification · control effectiveness · remediation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85232"/>
            <a:ext cx="5257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LO3 · K5, K6, A5, A6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235</a:t>
            </a:r>
          </a:p>
        </p:txBody>
      </p:sp>
    </p:spTree>
  </p:cSld>
  <p:transition spd="fast">
    <p:push/>
  </p:transition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TOPIC 03 ·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LO3 and assessment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criteria adapted to the autonomous-agent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Knowledge of security management benchmarks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K6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Gap analysis in organisation security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Review existing security controls against current and future business costs and risks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A6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Develop strategies and plans to resolve security gaps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LO3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LO3: Evaluate existing agent-security controls against business risks and costs, and develop strategies to resolve identified security gaps.</a:t>
            </a:r>
          </a:p>
        </p:txBody>
      </p:sp>
    </p:spTree>
  </p:cSld>
  <p:transition spd="fast">
    <p:fade/>
  </p:transition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FIVE-LAYER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AI Agent Risk Assessment and Security Control Evaluation: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Courseware-build mechanism-level coverage contract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Components, interfaces and ownership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States, transitions and decision points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Fields, rules, thresholds and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Attack path, diagnostic and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Acceptance test and activity artifact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Every mechanism in this topic is taught through all five layers.</a:t>
            </a:r>
          </a:p>
        </p:txBody>
      </p:sp>
    </p:spTree>
  </p:cSld>
  <p:transition spd="fast">
    <p:fade/>
  </p:transition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threat model: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Assets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assets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Trust Boundaries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trust boundaries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Attacker Goals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attacker goals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Abuse Paths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abuse paths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Controls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Model runtime, tools, memory, identity and suppliers</a:t>
            </a:r>
          </a:p>
        </p:txBody>
      </p:sp>
    </p:spTree>
  </p:cSld>
  <p:transition spd="fast">
    <p:fade/>
  </p:transition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threat model: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assets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Model runtime, tools, memory, identity and suppliers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Every high-value asset has at least one tested abuse path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Threat model treats the LLM as the only attack surface</a:t>
            </a:r>
          </a:p>
        </p:txBody>
      </p:sp>
    </p:spTree>
  </p:cSld>
  <p:transition spd="fast">
    <p:fade/>
  </p:transition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threat model: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asset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entry_point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precondition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technique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impact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mitigation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threat model: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Every high-value asset has at least one tested abuse path.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Direct prompt injection: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User Input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 input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Planner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Prohibited Tool Proposal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prohibited tool proposal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Separate policy from content and enforce action authorisation</a:t>
            </a:r>
          </a:p>
        </p:txBody>
      </p:sp>
    </p:spTree>
  </p:cSld>
  <p:transition spd="fast">
    <p:fade/>
  </p:transition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Direct prompt injection: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 input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Separate policy from content and enforce action authorisation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prohibited tool proposal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Injection suite cannot produce an unauthorised tool call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User instruction overrides policy and triggers a sensitive action</a:t>
            </a:r>
          </a:p>
        </p:txBody>
      </p:sp>
    </p:spTree>
  </p:cSld>
  <p:transition spd="fast">
    <p:fade/>
  </p:transition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Direct prompt injection: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input_source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user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injection_score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target_instruction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Direct prompt injection: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Injection suite cannot produce an unauthorised tool call.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Indirect prompt injection: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Document/Web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document/web page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Retriever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retriever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Planner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Tool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Label untrusted context and prevent it from granting authority</a:t>
            </a:r>
          </a:p>
        </p:txBody>
      </p:sp>
    </p:spTree>
  </p:cSld>
  <p:transition spd="fast">
    <p:fade/>
  </p:transition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Indirect prompt injection: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document/web page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Label untrusted context and prevent it from granting authority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Untrusted-context test is contained and logged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Retrieved content tells the agent to exfiltrate data</a:t>
            </a:r>
          </a:p>
        </p:txBody>
      </p:sp>
    </p:spTree>
  </p:cSld>
  <p:transition spd="fast">
    <p:fade/>
  </p:transition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Indirect prompt injection: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source_uri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trust_label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content_hash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instruction_markers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Indirect prompt injection: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Untrusted-context test is contained and logged.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poisoning: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Tool Metadata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metadata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Planner Selection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 selection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Malicious Output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malicious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Next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next action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Pin signed metadata and constrain tool output as untrusted</a:t>
            </a:r>
          </a:p>
        </p:txBody>
      </p:sp>
    </p:spTree>
  </p:cSld>
  <p:transition spd="fast">
    <p:fade/>
  </p:transition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poisoning: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metadata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Pin signed metadata and constrain tool output as untrusted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next action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Metadata hash mismatch blocks registration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Poisoned tool description manipulates planning</a:t>
            </a:r>
          </a:p>
        </p:txBody>
      </p:sp>
    </p:spTree>
  </p:cSld>
  <p:transition spd="fast">
    <p:fade/>
  </p:transition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poisoning: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description_hash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publisher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output_trust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 poisoning: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Metadata hash mismatch blocks registration.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Context poisoning: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System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system 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Developer Prompt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developer prompt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Memory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memory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Retrieval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retrieval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User Input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 input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Tag provenance and enforce precedence outside the model</a:t>
            </a:r>
          </a:p>
        </p:txBody>
      </p:sp>
    </p:spTree>
  </p:cSld>
  <p:transition spd="fast">
    <p:fade/>
  </p:transition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Context poisoning: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system prompt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Tag provenance and enforce precedence outside the model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 input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Context assembly report shows trust labels and hashes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Low-trust context persists as high-trust instruction</a:t>
            </a:r>
          </a:p>
        </p:txBody>
      </p:sp>
    </p:spTree>
  </p:cSld>
  <p:transition spd="fast">
    <p:fade/>
  </p:transition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Context poisoning: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segment_type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precedence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integrity_hash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trust_level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Context poisoning: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Context assembly report shows trust labels and hashes.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poisoning: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Conversation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conversation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Memory Write Policy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memory write policy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Vector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vector store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Later Retrieval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later retrieval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Validate writes, isolate tenants and expire low-confidence memory</a:t>
            </a:r>
          </a:p>
        </p:txBody>
      </p:sp>
    </p:spTree>
  </p:cSld>
  <p:transition spd="fast">
    <p:fade/>
  </p:transition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poisoning: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conversation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Validate writes, isolate tenants and expire low-confidence memory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later retrieval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Poison seed is absent from unrelated session retrieval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Adversarial fact persists and steers future sessions</a:t>
            </a:r>
          </a:p>
        </p:txBody>
      </p:sp>
    </p:spTree>
  </p:cSld>
  <p:transition spd="fast">
    <p:fade/>
  </p:transition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poisoning: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memory_id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author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tenant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ttl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approved_for_reuse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Memory poisoning: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Poison seed is absent from unrelated session retrieval.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exfiltration: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Sensitive Store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sensitive store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Agent 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Transformation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transformation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Outbound Tool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outbound tool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semantic DLP, egress policy and purpose binding</a:t>
            </a:r>
          </a:p>
        </p:txBody>
      </p:sp>
    </p:spTree>
  </p:cSld>
  <p:transition spd="fast">
    <p:fade/>
  </p:transition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exfiltration: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sensitive store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semantic DLP, egress policy and purpose binding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outbound tool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Red-team exfil attempts transfer zero restricted bytes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encodes restricted data to evade keyword DLP</a:t>
            </a:r>
          </a:p>
        </p:txBody>
      </p:sp>
    </p:spTree>
  </p:cSld>
  <p:transition spd="fast">
    <p:fade/>
  </p:transition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exfiltration: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bytes_read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bytes_out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leak_score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 exfiltration: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Red-team exfil attempts transfer zero restricted bytes.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harvesting: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Prompt/Tool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prompt/tool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Context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context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Secret Lookup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secret lookup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Outbound Channel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outbound channel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Broker secrets only to tools; never return them to the model</a:t>
            </a:r>
          </a:p>
        </p:txBody>
      </p:sp>
    </p:spTree>
  </p:cSld>
  <p:transition spd="fast">
    <p:fade/>
  </p:transition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harvesting: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prompt/tool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Broker secrets only to tools; never return them to the model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outbound channel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Model-visible trace contains no secret material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is tricked into retrieving and revealing a token</a:t>
            </a:r>
          </a:p>
        </p:txBody>
      </p:sp>
    </p:spTree>
  </p:cSld>
  <p:transition spd="fast">
    <p:fade/>
  </p:transition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harvesting: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secret_ref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access_reason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requester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Credential harvesting: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Model-visible trace contains no secret material.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Excessive agency: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Broad 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broad goal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Planner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planner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Long Action 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long action chain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Irreversible Side Effect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irreversible side effect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Bound steps, scope, spend and irreversible actions</a:t>
            </a:r>
          </a:p>
        </p:txBody>
      </p:sp>
    </p:spTree>
  </p:cSld>
  <p:transition spd="fast">
    <p:fade/>
  </p:transition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Excessive agency: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broad goal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Bound steps, scope, spend and irreversible actions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irreversible side effect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Action-chain tests stop at configured bounds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performs destructive actions beyond user intent</a:t>
            </a:r>
          </a:p>
        </p:txBody>
      </p:sp>
    </p:spTree>
  </p:cSld>
  <p:transition spd="fast">
    <p:fade/>
  </p:transition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Excessive agency: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max_steps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allowed_tools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spend_limit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approval_tier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stop_reason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Excessive agency: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Action-chain tests stop at configured bounds.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Privilege escalation: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Low-Privilege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low-privilege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Mis-Scoped Role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mis-scoped role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Admin 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admin 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State Change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state change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Eliminate wildcard scopes and validate resource ownership</a:t>
            </a:r>
          </a:p>
        </p:txBody>
      </p:sp>
    </p:spTree>
  </p:cSld>
  <p:transition spd="fast">
    <p:fade/>
  </p:transition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Privilege escalation: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low-privilege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Eliminate wildcard scopes and validate resource ownership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change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Privilege-path graph has no unintended route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Wildcard permission makes admin action reachable</a:t>
            </a:r>
          </a:p>
        </p:txBody>
      </p:sp>
    </p:spTree>
  </p:cSld>
  <p:transition spd="fast">
    <p:fade/>
  </p:transition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Privilege escalation: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principal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requested_action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Privilege escalation: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Privilege-path graph has no unintended route.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Compromised integration: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Saas Connector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SaaS connector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Compromised Account/Api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compromised account/API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Poisoned 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poisoned result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Treat external output as untrusted and monitor connector identity</a:t>
            </a:r>
          </a:p>
        </p:txBody>
      </p:sp>
    </p:spTree>
  </p:cSld>
  <p:transition spd="fast">
    <p:fade/>
  </p:transition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Compromised integration: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Treat external output as untrusted and monitor connector identity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poisoned result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Connector anomaly triggers quarantine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Trusted integration returns malicious instructions or data</a:t>
            </a:r>
          </a:p>
        </p:txBody>
      </p:sp>
    </p:spTree>
  </p:cSld>
  <p:transition spd="fast">
    <p:fade/>
  </p:transition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Compromised integration: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connector_id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auth_subject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tls_peer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response_hash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Compromised integration: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Connector anomaly triggers quarantine.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Supply-chain compromise: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Library/Model/Tool Image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library/model/tool image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Build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build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Registry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registry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Runtime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Pin hashes, verify signatures and scan the AI BOM</a:t>
            </a:r>
          </a:p>
        </p:txBody>
      </p:sp>
    </p:spTree>
  </p:cSld>
  <p:transition spd="fast">
    <p:fade/>
  </p:transition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Supply-chain compromise: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library/model/tool image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Pin hashes, verify signatures and scan the AI BOM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runtime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Unapproved digest cannot pass deployment gate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Typosquatted dependency executes inside the agent runtime</a:t>
            </a:r>
          </a:p>
        </p:txBody>
      </p:sp>
    </p:spTree>
  </p:cSld>
  <p:transition spd="fast">
    <p:fade/>
  </p:transition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Supply-chain compromise: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package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digest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signer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SBOM_ref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vuln_status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Supply-chain compromise: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Unapproved digest cannot pass deployment gate.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Unbounded consumption: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Recursive Planning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recursive planning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Model/Tool Calls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model/tool calls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Billing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billing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Enforce budgets, loop detection and per-session quotas</a:t>
            </a:r>
          </a:p>
        </p:txBody>
      </p:sp>
    </p:spTree>
  </p:cSld>
  <p:transition spd="fast">
    <p:fade/>
  </p:transition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Unbounded consumption: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Enforce budgets, loop detection and per-session quotas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billing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Session stops before cost_sgd exceeds budget_sgd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Loop consumes quota and creates unexpected cost</a:t>
            </a:r>
          </a:p>
        </p:txBody>
      </p:sp>
    </p:spTree>
  </p:cSld>
  <p:transition spd="fast">
    <p:fade/>
  </p:transition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Unbounded consumption: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call_count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token_count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elapsed_ms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cost_sgd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budget_sgd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Unbounded consumption: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Session stops before cost_sgd exceeds budget_sgd.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Service denial: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Traffic 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traffic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queue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Agent Worker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worker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Model/Tool Dependencies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model/tool dependencies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Rate-limit, queue fairly and isolate critical workloads</a:t>
            </a:r>
          </a:p>
        </p:txBody>
      </p:sp>
    </p:spTree>
  </p:cSld>
  <p:transition spd="fast">
    <p:fade/>
  </p:transition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Service denial: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traffic source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Rate-limit, queue fairly and isolate critical workloads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model/tool dependencies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Critical queue latency remains within SLO under load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Prompt flood saturates limited agent workers</a:t>
            </a:r>
          </a:p>
        </p:txBody>
      </p:sp>
    </p:spTree>
  </p:cSld>
  <p:transition spd="fast">
    <p:fade/>
  </p:transition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Service denial: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request_rate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queue_depth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timeout_rate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dependency_health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Service denial: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Critical queue latency remains within SLO under load.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Hallucinated action: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Ambiguous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ambiguous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Fabricated Resource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fabricated resource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Tool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Failure/Impact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failure/impact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Resolve and validate identifiers against authoritative data</a:t>
            </a:r>
          </a:p>
        </p:txBody>
      </p:sp>
    </p:spTree>
  </p:cSld>
  <p:transition spd="fast">
    <p:fade/>
  </p:transition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Hallucinated action: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ambiguous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Resolve and validate identifiers against authoritative 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failure/impact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Unknown resource_id is denied before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invents an account and changes the wrong record</a:t>
            </a:r>
          </a:p>
        </p:txBody>
      </p:sp>
    </p:spTree>
  </p:cSld>
  <p:transition spd="fast">
    <p:fade/>
  </p:transition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Hallucinated action: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source_of_truth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validation_result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Hallucinated action: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Unknown resource_id is denied before execution.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Insecure output handling: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3250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80260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Model Output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model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70248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104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Parser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parser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0416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4059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Downstream Interpreter/Browser/Sql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2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downstream interpreter/browser/SQL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structured schemas, escaping and non-executable rendering</a:t>
            </a:r>
          </a:p>
        </p:txBody>
      </p:sp>
    </p:spTree>
  </p:cSld>
  <p:transition spd="fast">
    <p:fade/>
  </p:transition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Insecure output handling: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299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model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structured schemas, escaping and non-executable rendering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downstream interpreter/browser/SQL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Fuzz outputs cannot cross the interpreter boundary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Generated command or markup executes as code</a:t>
            </a:r>
          </a:p>
        </p:txBody>
      </p:sp>
    </p:spTree>
  </p:cSld>
  <p:transition spd="fast">
    <p:fade/>
  </p:transition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Insecure output handling: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output_type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schema_valid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encoding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sanitised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Insecure output handling: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Fuzz outputs cannot cross the interpreter boundary.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escape: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Generated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generated code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Container Syscall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container syscall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Host Kernel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host kernel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Adjacent Workload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adjacent workload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Harden isolation and block sensitive mounts/syscalls</a:t>
            </a:r>
          </a:p>
        </p:txBody>
      </p:sp>
    </p:spTree>
  </p:cSld>
  <p:transition spd="fast">
    <p:fade/>
  </p:transition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escape: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generated code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Harden isolation and block sensitive mounts/syscalls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adjacent workload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Escape test is blocked and produces a high-severity event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workload accesses host socket or filesystem</a:t>
            </a:r>
          </a:p>
        </p:txBody>
      </p:sp>
    </p:spTree>
  </p:cSld>
  <p:transition spd="fast">
    <p:fade/>
  </p:transition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escape: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syscall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seccomp_action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uid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network_namespace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Sandbox escape: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Escape test is blocked and produces a high-severity event.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Human override failure: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Agent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agent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Reviewer 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reviewer UI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Context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context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Decision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Show exact diff, impact and evidence; support reject and edit</a:t>
            </a:r>
          </a:p>
        </p:txBody>
      </p:sp>
    </p:spTree>
  </p:cSld>
  <p:transition spd="fast">
    <p:fade/>
  </p:transition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Human override failure: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agent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Show exact diff, impact and evidence; support reject and edit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Review sampling finds complete decision context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Reviewer rubber-stamps an opaque or misleading proposal</a:t>
            </a:r>
          </a:p>
        </p:txBody>
      </p:sp>
    </p:spTree>
  </p:cSld>
  <p:transition spd="fast">
    <p:fade/>
  </p:transition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Human override failure: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approval_id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action_summary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Human override failure: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Review sampling finds complete decision context.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Likelihood-impact scoring: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Scenario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scenario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Likelihood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likelihood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Impact Dimensions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impact dimensions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Inherent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inherent score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Define anchored scales and take the highest material impact</a:t>
            </a:r>
          </a:p>
        </p:txBody>
      </p:sp>
    </p:spTree>
  </p:cSld>
  <p:transition spd="fast">
    <p:fade/>
  </p:transition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Likelihood-impact scoring: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scenario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Define anchored scales and take the highest material impact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inherent 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Independent scorers remain within one rating level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Teams compare risks using inconsistent scales</a:t>
            </a:r>
          </a:p>
        </p:txBody>
      </p:sp>
    </p:spTree>
  </p:cSld>
  <p:transition spd="fast">
    <p:fade/>
  </p:transition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Likelihood-impact scoring: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likelihood_1_5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financial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operational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legal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safety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Likelihood-impact scoring: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Independent scorers remain within one rating level.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Expected-loss estimate: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5207508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87802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496976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Event Frequency × Loss Magnitude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4951476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event frequency × loss magnitude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5332" y="1901952"/>
            <a:ext cx="5207508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4204" y="2816352"/>
            <a:ext cx="496976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Annualised Loss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3348" y="3273552"/>
            <a:ext cx="4951476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annualised loss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transparent ranges and sensitivity analysis</a:t>
            </a:r>
          </a:p>
        </p:txBody>
      </p:sp>
    </p:spTree>
  </p:cSld>
  <p:transition spd="fast">
    <p:fade/>
  </p:transition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Expected-loss estimate: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event frequency × loss magnitude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transparent ranges and sensitivity analysis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annualised loss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expected_loss = frequency × loss; assumptions are documented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Control spend is justified only by qualitative fear</a:t>
            </a:r>
          </a:p>
        </p:txBody>
      </p:sp>
    </p:spTree>
  </p:cSld>
  <p:transition spd="fast">
    <p:fade/>
  </p:transition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Expected-loss estimate: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frequency_per_year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loss_sgd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expected_loss_sgd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Expected-loss estimate: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expected_loss = frequency × loss; assumptions are documented.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effectiveness: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Designed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designed control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Operating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operating test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Coverage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Effectiveness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effectiveness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Test design, operation and coverage separately</a:t>
            </a:r>
          </a:p>
        </p:txBody>
      </p:sp>
    </p:spTree>
  </p:cSld>
  <p:transition spd="fast">
    <p:fade/>
  </p:transition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effectiveness: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designed control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Test design, operation and coverage separately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effectiveness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effective coverage meets the risk-treatment target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Control exists but operates on only part of the fleet</a:t>
            </a:r>
          </a:p>
        </p:txBody>
      </p:sp>
    </p:spTree>
  </p:cSld>
  <p:transition spd="fast">
    <p:fade/>
  </p:transition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effectiveness: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design_score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operation_score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coverage_pct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effectiveness_pct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Control effectiveness: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effective coverage meets the risk-treatment target.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Residual risk: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5207508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987802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496976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Inherent Risk × (1 − Control Effectiveness)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4951476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inherent risk × (1 − control effectiveness)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5332" y="1901952"/>
            <a:ext cx="5207508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4204" y="2816352"/>
            <a:ext cx="4969764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Residual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3348" y="3273552"/>
            <a:ext cx="4951476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residual decision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Calculate residual risk with tested effectiveness</a:t>
            </a:r>
          </a:p>
        </p:txBody>
      </p:sp>
    </p:spTree>
  </p:cSld>
  <p:transition spd="fast">
    <p:fade/>
  </p:transition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Residual risk: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inherent risk × (1 − control effectiveness)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Calculate residual risk with tested effectiveness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residual 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Above-appetite residual risk is escalated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Reported risk ignores control failure or coverage gaps</a:t>
            </a:r>
          </a:p>
        </p:txBody>
      </p:sp>
    </p:spTree>
  </p:cSld>
  <p:transition spd="fast">
    <p:fade/>
  </p:transition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Residual risk: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inherent_score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effectiveness_pct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residual_score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appetite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Residual risk: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Above-appetite residual risk is escalated.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Gap register: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Benchmark/Control Objective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benchmark/control objective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Current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current state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Gap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gap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Owner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owner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Due Date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due date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Record evidence, severity, owner, dependency and acceptance test</a:t>
            </a:r>
          </a:p>
        </p:txBody>
      </p:sp>
    </p:spTree>
  </p:cSld>
  <p:transition spd="fast">
    <p:fade/>
  </p:transition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Gap register: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benchmark/control objective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Record evidence, severity, owner, dependency and acceptance test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due date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high gap is ownerless or overdue without escalation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Findings lack an actionable path to closure</a:t>
            </a:r>
          </a:p>
        </p:txBody>
      </p:sp>
    </p:spTree>
  </p:cSld>
  <p:transition spd="fast">
    <p:fade/>
  </p:transition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Gap register: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gap_id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target_date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Gap register: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No high gap is ownerless or overdue without escalation.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Remediation portfolio: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Gaps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gaps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Options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options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Cost/Risk Reduction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cost/risk reduction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Priority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priority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Roadmap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roadmap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Prioritise by risk reduction, feasibility and dependencies</a:t>
            </a:r>
          </a:p>
        </p:txBody>
      </p:sp>
    </p:spTree>
  </p:cSld>
  <p:transition spd="fast">
    <p:fade/>
  </p:transition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Remediation portfolio: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gaps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Prioritise by risk reduction, feasibility and dependencies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roadmap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Selected portfolio fits budget and maximises risk reduction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Teams fund visible controls instead of highest value</a:t>
            </a:r>
          </a:p>
        </p:txBody>
      </p:sp>
    </p:spTree>
  </p:cSld>
  <p:transition spd="fast">
    <p:fade/>
  </p:transition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Remediation portfolio: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option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cost_sgd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effort_days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risk_reduction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dependency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priority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Remediation portfolio: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6D4AC9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Selected portfolio fits budget and maximises risk reduction.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A5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06 — Quantify Agent Risks and Control Value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activity-06-risk-control-evaluation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mock_risks.csv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risk_evaluation.csv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Residual risk and expected annual loss calculations reconcile with the input assumptions.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A5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06: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mock_risks.csv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risk_evaluation.csv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Residual risk and expected annual loss calculations reconcile with the input assumptions.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A5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06: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mock_risks.csv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risk_evaluation.csv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risk_evaluation.csv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A6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07 — Prioritise a Security Gap Remediation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activity-07-gap-remediation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mock_gaps.csv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remediation_roadmap.md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The roadmap stays within the mock budget and prioritises overdue and above-appetite gaps.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A6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07: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mock_gaps.csv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6D4A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remediation_roadmap.md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6D4AC9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The roadmap stays within the mock budget and prioritises overdue and above-appetite gaps.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A6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07: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6D4AC9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mock_gaps.csv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remediation_roadmap.md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remediation_roadmap.md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6D4AC9"/>
                </a:solidFill>
                <a:latin typeface="Aptos"/>
              </a:rPr>
              <a:t>LO3 · K5, K6, A5, A6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Topic 03 technical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6D4AC9"/>
                </a:solidFill>
                <a:latin typeface="Aptos"/>
              </a:rPr>
              <a:t>340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Topic technical-anchor inventory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Likelihood-impact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Independent scorers remain within one rating level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Expected-loss estimate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expected_loss = frequency × loss; assumptions are documented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Control effectiveness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effective coverage meets the risk-treatment target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Residual risk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Above-appetite residual risk is escalated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Gap register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No high gap is ownerless or overdue without escalation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Remediation portfolio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Selected portfolio fits budget and maximises risk reduction</a:t>
            </a:r>
          </a:p>
        </p:txBody>
      </p:sp>
    </p:spTree>
  </p:cSld>
  <p:transition spd="fast">
    <p:fade/>
  </p:transition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4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Implementing and Monitoring Organisation-Wide Agent Security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Telemetry · detection · incident response · containment · 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85232"/>
            <a:ext cx="525780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LO4 · K7, A7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341</a:t>
            </a:r>
          </a:p>
        </p:txBody>
      </p:sp>
    </p:spTree>
  </p:cSld>
  <p:transition spd="fast">
    <p:push/>
  </p:transition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TOPIC 04 · ALIGNMENT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LO4 and assessment criteria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Approved course proposal criteria adapted to the autonomous-agent context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K7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Implications and impact of security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A7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Drive organisation-wide security initiatives in line with internal and external standards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LO4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LO4: Implement organisation-wide agent-security initiatives, assessing and addressing the impact of security gaps.</a:t>
            </a:r>
          </a:p>
        </p:txBody>
      </p:sp>
    </p:spTree>
  </p:cSld>
  <p:transition spd="fast">
    <p:fade/>
  </p:transition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FIVE-LAYER CONTRACT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Implementing and Monitoring Organisation-Wide Agent Security Operations: operating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Courseware-build mechanism-level coverage contract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Boundary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Components, interfaces and ownership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Runtime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States, transitions and decision points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Contract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Fields, rules, thresholds and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Failure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Attack path, diagnostic and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Acceptance test and activity artifact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Every mechanism in this topic is taught through all five layers.</a:t>
            </a:r>
          </a:p>
        </p:txBody>
      </p:sp>
    </p:spTree>
  </p:cSld>
  <p:transition spd="fast">
    <p:fade/>
  </p:transition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Telemetry contract: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Runtime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Policy Gateway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gateway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Collector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collector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Siem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SIEM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Require schema validation at ingestion</a:t>
            </a:r>
          </a:p>
        </p:txBody>
      </p:sp>
    </p:spTree>
  </p:cSld>
  <p:transition spd="fast">
    <p:fade/>
  </p:transition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Telemetry contract: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runtime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 schema validation at ingestion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SIEM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Critical-event schema conformance ≥99.5%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Missing fields break investigations and detections</a:t>
            </a:r>
          </a:p>
        </p:txBody>
      </p:sp>
    </p:spTree>
  </p:cSld>
  <p:transition spd="fast">
    <p:fade/>
  </p:transition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Telemetry contract: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event_time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trace_id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span_id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session_id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event_type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Telemetry contract: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Critical-event schema conformance ≥99.5%.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Trace correlation: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User Request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Plan Spans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plan spans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Spans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spans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Approval Span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approval span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Outcome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outcome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Propagate trace context across every component</a:t>
            </a:r>
          </a:p>
        </p:txBody>
      </p:sp>
    </p:spTree>
  </p:cSld>
  <p:transition spd="fast">
    <p:fade/>
  </p:transition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Trace correlation: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 request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Propagate trace context across every component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outcome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 sampled session reconstructs without orphan spans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Events exist but cannot be ordered into one incident</a:t>
            </a:r>
          </a:p>
        </p:txBody>
      </p:sp>
    </p:spTree>
  </p:cSld>
  <p:transition spd="fast">
    <p:fade/>
  </p:transition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Trace correlation: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parent_span_id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actor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resource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Trace correlation: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 sampled session reconstructs without orphan spans.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Immutable audit log: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Event Producer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event producer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Signed Envelope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signed envelope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Append-Only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append-only store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Verifier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verifier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Use append-only storage and hash chaining</a:t>
            </a:r>
          </a:p>
        </p:txBody>
      </p:sp>
    </p:spTree>
  </p:cSld>
  <p:transition spd="fast">
    <p:fade/>
  </p:transition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Immutable audit log: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event producer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 append-only storage and hash chaining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verifier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Verification detects any missing or altered record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Attacker deletes or edits incriminating tool events</a:t>
            </a:r>
          </a:p>
        </p:txBody>
      </p:sp>
    </p:spTree>
  </p:cSld>
  <p:transition spd="fast">
    <p:fade/>
  </p:transition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Immutable audit log: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sequence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previous_hash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event_hash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signer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timestamp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Immutable audit log: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Verification detects any missing or altered record.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Detection rule lifecycle: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Hypothesis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hypothesis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Query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query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Test 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test data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deployment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Tuning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tuning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Version rules with tests, owners and tuning history</a:t>
            </a:r>
          </a:p>
        </p:txBody>
      </p:sp>
    </p:spTree>
  </p:cSld>
  <p:transition spd="fast">
    <p:fade/>
  </p:transition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Detection rule lifecycle: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hypothesis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Version rules with tests, owners and tuning history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tuning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Test fixtures yield expected alerts with bounded noise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Unreviewed rule floods analysts or misses known attacks</a:t>
            </a:r>
          </a:p>
        </p:txBody>
      </p:sp>
    </p:spTree>
  </p:cSld>
  <p:transition spd="fast">
    <p:fade/>
  </p:transition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Detection rule lifecycle: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rule_id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query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threshold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Detection rule lifecycle: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Test fixtures yield expected alerts with bounded noise.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Behaviour anomaly score: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Feature Window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feature window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Baseline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baseline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Deviation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deviation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score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Alert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alert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Combine identity-specific behavioural features</a:t>
            </a:r>
          </a:p>
        </p:txBody>
      </p:sp>
    </p:spTree>
  </p:cSld>
  <p:transition spd="fast">
    <p:fade/>
  </p:transition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Behaviour anomaly score: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feature window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Combine identity-specific behavioural features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alert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score≥0.80 opens an investigation in mock policy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Compromised agent stays within simple static limits</a:t>
            </a:r>
          </a:p>
        </p:txBody>
      </p:sp>
    </p:spTree>
  </p:cSld>
  <p:transition spd="fast">
    <p:fade/>
  </p:transition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Behaviour anomaly score: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tool_rate_z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new_destination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denied_ratio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step_count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Behaviour anomaly score: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score≥0.80 opens an investigation in mock policy.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Prompt-injection signals: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Input/Context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input/context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Detector Ensemble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detector ensemble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Policy Gate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gate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Trace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trace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Layer provenance, classifiers and action authorisation</a:t>
            </a:r>
          </a:p>
        </p:txBody>
      </p:sp>
    </p:spTree>
  </p:cSld>
  <p:transition spd="fast">
    <p:fade/>
  </p:transition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Prompt-injection signals: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input/context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Layer provenance, classifiers and action authorisation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High-risk signal plus sensitive action is blocked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Obfuscated injection bypasses one keyword filter</a:t>
            </a:r>
          </a:p>
        </p:txBody>
      </p:sp>
    </p:spTree>
  </p:cSld>
  <p:transition spd="fast">
    <p:fade/>
  </p:transition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Prompt-injection signals: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instruction_density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trust_mismatch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secret_request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override_phrase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Prompt-injection signals: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High-risk signal plus sensitive action is blocked.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Tool-sequence graph: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Directed Graph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directed graph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Rare Edge Model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rare edge model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alert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Detect unusual action chains and privileged transitions</a:t>
            </a:r>
          </a:p>
        </p:txBody>
      </p:sp>
    </p:spTree>
  </p:cSld>
  <p:transition spd="fast">
    <p:fade/>
  </p:transition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Tool-sequence graph: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Detect unusual action chains and privileged transitions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alert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Rare high-risk edge produces a correlated alert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Each call is allowed but the sequence is malicious</a:t>
            </a:r>
          </a:p>
        </p:txBody>
      </p:sp>
    </p:spTree>
  </p:cSld>
  <p:transition spd="fast">
    <p:fade/>
  </p:transition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Tool-sequence graph: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from_tool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to_tool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edge_count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baseline_prob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risk_weight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Tool-sequence graph: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Rare high-risk edge produces a correlated alert.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Data-egress detection: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Read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read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Classification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classification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Outbound Events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outbound events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correlation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Correlate sensitive reads with outbound channels</a:t>
            </a:r>
          </a:p>
        </p:txBody>
      </p:sp>
    </p:spTree>
  </p:cSld>
  <p:transition spd="fast">
    <p:fade/>
  </p:transition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Data-egress detection: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read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Correlate sensitive reads with outbound channels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correlation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Restricted-read + unknown-egress within 5 min alerts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reads restricted data then sends a small encoded payload</a:t>
            </a:r>
          </a:p>
        </p:txBody>
      </p:sp>
    </p:spTree>
  </p:cSld>
  <p:transition spd="fast">
    <p:fade/>
  </p:transition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Data-egress detection: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bytes_read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bytes_out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time_delta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Data-egress detection: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Restricted-read + unknown-egress within 5 min alerts.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Secret-access anomaly: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Vault Access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vault access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Purpose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purpose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call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Destination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destination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Baseline secret-to-tool relationships and deny mismatches</a:t>
            </a:r>
          </a:p>
        </p:txBody>
      </p:sp>
    </p:spTree>
  </p:cSld>
  <p:transition spd="fast">
    <p:fade/>
  </p:transition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Secret-access anomaly: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vault access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Baseline secret-to-tool relationships and deny mismatches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destination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Unexpected secret_ref/tool_id pair is denied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requests a secret unrelated to its normal tools</a:t>
            </a:r>
          </a:p>
        </p:txBody>
      </p:sp>
    </p:spTree>
  </p:cSld>
  <p:transition spd="fast">
    <p:fade/>
  </p:transition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Secret-access anomaly: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secret_ref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usual_for_agent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Secret-access anomaly: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379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Unexpected secret_ref/tool_id pair is denied.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drift: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03250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080260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Session Features Over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session features over 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270248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7104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Baseline Comparison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98264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baseline comparison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900416" y="1901952"/>
            <a:ext cx="3392424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4059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19288" y="2816352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Drift Signal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28432" y="3273552"/>
            <a:ext cx="3136392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drift signal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Re-authorise when goal or capability footprint changes</a:t>
            </a:r>
          </a:p>
        </p:txBody>
      </p:sp>
    </p:spTree>
  </p:cSld>
  <p:transition spd="fast">
    <p:fade/>
  </p:transition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drift: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session features over time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Re-authorise when goal or capability footprint changes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drift signal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drift_score≥0.70 pauses before the next action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Long session gradually moves away from approved goal</a:t>
            </a:r>
          </a:p>
        </p:txBody>
      </p:sp>
    </p:spTree>
  </p:cSld>
  <p:transition spd="fast">
    <p:fade/>
  </p:transition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drift: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goal_hash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active_tools[]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destinations[]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step_count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drift_score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drift: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drift_score≥0.70 pauses before the next action.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Rate-limit control: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Identity Bucket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identity bucket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Bucket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bucket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Destination Bucket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destination bucket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Decision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decision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Limit by agent, tenant, tool and destination</a:t>
            </a:r>
          </a:p>
        </p:txBody>
      </p:sp>
    </p:spTree>
  </p:cSld>
  <p:transition spd="fast">
    <p:fade/>
  </p:transition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Rate-limit control: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identity bucket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Limit by agent, tenant, tool and destination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decision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Load test produces 429/deny at configured thresholds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Distributed calls evade a single global counter</a:t>
            </a:r>
          </a:p>
        </p:txBody>
      </p:sp>
    </p:spTree>
  </p:cSld>
  <p:transition spd="fast">
    <p:fade/>
  </p:transition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Rate-limit control: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window_seconds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max_requests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current_count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retry_after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Rate-limit control: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Load test produces 429/deny at configured thresholds.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Budget alert: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Token/Tool Usage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token/tool usage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Cost Estimator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cost estimator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Threshold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threshold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Circuit Breaker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circuit breaker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Warn at 70%, throttle at 90%, stop at 100% in mock policy</a:t>
            </a:r>
          </a:p>
        </p:txBody>
      </p:sp>
    </p:spTree>
  </p:cSld>
  <p:transition spd="fast">
    <p:fade/>
  </p:transition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Budget alert: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389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token/tool usage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Warn at 70%, throttle at 90%, stop at 100% in mock policy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circuit breaker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Budget breach stops new calls and preserves trace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Runaway planning consumes budget without operational alert</a:t>
            </a:r>
          </a:p>
        </p:txBody>
      </p:sp>
    </p:spTree>
  </p:cSld>
  <p:transition spd="fast">
    <p:fade/>
  </p:transition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Budget alert: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session_cost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daily_cost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warning_pct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hard_limit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Budget alert: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Budget breach stops new calls and preserves trace.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Allowlist denial: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Policy Lookup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policy lookup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Deny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deny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Audit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audit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User-Safe Response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user-safe response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Log denials with reason codes and correlate repetition</a:t>
            </a:r>
          </a:p>
        </p:txBody>
      </p:sp>
    </p:spTree>
  </p:cSld>
  <p:transition spd="fast">
    <p:fade/>
  </p:transition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Allowlist denial: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Log denials with reason codes and correlate repetition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user-safe response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Repeated deny_reason creates one deduplicated alert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Blocked action fails silently and attacker keeps probing</a:t>
            </a:r>
          </a:p>
        </p:txBody>
      </p:sp>
    </p:spTree>
  </p:cSld>
  <p:transition spd="fast">
    <p:fade/>
  </p:transition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Allowlist denial: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policy_version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deny_reason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Allowlist denial: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Repeated deny_reason creates one deduplicated alert.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timeout: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Proposal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Approver Queue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approver queue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Timer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timer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Expire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expire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No Execution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no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Bind approval to action hash and expiry</a:t>
            </a:r>
          </a:p>
        </p:txBody>
      </p:sp>
    </p:spTree>
  </p:cSld>
  <p:transition spd="fast">
    <p:fade/>
  </p:transition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timeout: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proposal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Bind approval to action hash and expiry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execution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Expired or mismatched approval_id is rejected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Old approval is replayed after context changes</a:t>
            </a:r>
          </a:p>
        </p:txBody>
      </p:sp>
    </p:spTree>
  </p:cSld>
  <p:transition spd="fast">
    <p:fade/>
  </p:transition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timeout: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approval_id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created_at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expires_at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reviewer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Approval timeout: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399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Expired or mismatched approval_id is rejected.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Alert triage: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Alert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alert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Enrichment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enrichment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Scope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scope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confidence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Disposition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disposition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Require minimum enrichment and trace evidence</a:t>
            </a:r>
          </a:p>
        </p:txBody>
      </p:sp>
    </p:spTree>
  </p:cSld>
  <p:transition spd="fast">
    <p:fade/>
  </p:transition>
  <p:clrMapOvr>
    <a:masterClrMapping/>
  </p:clrMapOvr>
</p:sld>
</file>

<file path=ppt/slides/slide4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Alert triage: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alert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 minimum enrichment and trace evidence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disposition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Disposition record cites the trace and decision rationale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Analyst closes alert without inspecting action chain</a:t>
            </a:r>
          </a:p>
        </p:txBody>
      </p:sp>
    </p:spTree>
  </p:cSld>
  <p:transition spd="fast">
    <p:fade/>
  </p:transition>
  <p:clrMapOvr>
    <a:masterClrMapping/>
  </p:clrMapOvr>
</p:sld>
</file>

<file path=ppt/slides/slide4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Alert triage: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alert_id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affected_agents[]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severity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confidence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owner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Alert triage: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Disposition record cites the trace and decision rationale.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severity: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7420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71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impact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32503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55163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780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4035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Scope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179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scope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47588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0248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288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Data Class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data class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85332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17970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Autonomy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autonomy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77755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00415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Persistence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persistence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5499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813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437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3515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severity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Account for real-world actions and ongoing autonomy</a:t>
            </a:r>
          </a:p>
        </p:txBody>
      </p:sp>
    </p:spTree>
  </p:cSld>
  <p:transition spd="fast">
    <p:fade/>
  </p:transition>
  <p:clrMapOvr>
    <a:masterClrMapping/>
  </p:clrMapOvr>
</p:sld>
</file>

<file path=ppt/slides/slide4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severity: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impact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Account for real-world actions and ongoing autonomy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severity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SEV-1 criteria trigger executive and containment paths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incident is ranked like a low-impact chatbot error</a:t>
            </a:r>
          </a:p>
        </p:txBody>
      </p:sp>
    </p:spTree>
  </p:cSld>
  <p:transition spd="fast">
    <p:fade/>
  </p:transition>
  <p:clrMapOvr>
    <a:masterClrMapping/>
  </p:clrMapOvr>
</p:sld>
</file>

<file path=ppt/slides/slide4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severity: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agents_affected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data_class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external_effect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persistence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sev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Incident severity: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SEV-1 criteria trigger executive and containment paths.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Containment circuit breaker: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Soc Decision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SOC decision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Gateway Deny-All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gateway deny-all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Queue Drain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queue drain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Confirmation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confirmation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Verify control-plane and data-plane stop states</a:t>
            </a:r>
          </a:p>
        </p:txBody>
      </p:sp>
    </p:spTree>
  </p:cSld>
  <p:transition spd="fast">
    <p:fade/>
  </p:transition>
  <p:clrMapOvr>
    <a:masterClrMapping/>
  </p:clrMapOvr>
</p:sld>
</file>

<file path=ppt/slides/slide4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Containment circuit breaker: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SOC decision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Verify control-plane and data-plane stop states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confirmation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 tool event occurs after effective_at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Containment request succeeds in UI but actions continue</a:t>
            </a:r>
          </a:p>
        </p:txBody>
      </p:sp>
    </p:spTree>
  </p:cSld>
  <p:transition spd="fast">
    <p:fade/>
  </p:transition>
  <p:clrMapOvr>
    <a:masterClrMapping/>
  </p:clrMapOvr>
</p:sld>
</file>

<file path=ppt/slides/slide4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Containment circuit breaker: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incident_id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initiated_by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effective_at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agents_stopped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Containment circuit breaker: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No tool event occurs after effective_at.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Token revocation: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Incident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incident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Identity Provider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identity provider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Revoke Session/Tokens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revoke session/tokens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Resource Deny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resource deny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Revoke tokens and enforce short TTL at resources</a:t>
            </a:r>
          </a:p>
        </p:txBody>
      </p:sp>
    </p:spTree>
  </p:cSld>
  <p:transition spd="fast">
    <p:fade/>
  </p:transition>
  <p:clrMapOvr>
    <a:masterClrMapping/>
  </p:clrMapOvr>
</p:sld>
</file>

<file path=ppt/slides/slide4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Token revocation: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incident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Revoke tokens and enforce short TTL at resources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resource deny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Post-revocation access attempt returns deny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Disabled agent reuses an already-issued token</a:t>
            </a:r>
          </a:p>
        </p:txBody>
      </p:sp>
    </p:spTree>
  </p:cSld>
  <p:transition spd="fast">
    <p:fade/>
  </p:transition>
  <p:clrMapOvr>
    <a:masterClrMapping/>
  </p:clrMapOvr>
</p:sld>
</file>

<file path=ppt/slides/slide4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Token revocation: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token_id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subject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audience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revoked_at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Token revocation: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Post-revocation access attempt returns deny.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disablement: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Registry Status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registry status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Scheduler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scheduler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Runtime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runtime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Tool Gateway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tool gateway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Make scheduler and gateway consume authoritative status</a:t>
            </a:r>
          </a:p>
        </p:txBody>
      </p:sp>
    </p:spTree>
  </p:cSld>
  <p:transition spd="fast">
    <p:fade/>
  </p:transition>
  <p:clrMapOvr>
    <a:masterClrMapping/>
  </p:clrMapOvr>
</p:sld>
</file>

<file path=ppt/slides/slide4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disablement: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registry status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Make scheduler and gateway consume authoritative status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tool gateway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Disabled agent cannot start or call tools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New worker starts after the incident</a:t>
            </a:r>
          </a:p>
        </p:txBody>
      </p:sp>
    </p:spTree>
  </p:cSld>
  <p:transition spd="fast">
    <p:fade/>
  </p:transition>
  <p:clrMapOvr>
    <a:masterClrMapping/>
  </p:clrMapOvr>
</p:sld>
</file>

<file path=ppt/slides/slide4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disablement: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agent_id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disabled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version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reason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changed_by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Agent disablement: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Disabled agent cannot start or call tools.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preservation: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Volatile Session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volatile session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Snapshot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snapshot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Immutable Store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immutable store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Chain Of Custody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chain of custody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Snapshot prompts, memory, policies, logs and tool outputs</a:t>
            </a:r>
          </a:p>
        </p:txBody>
      </p:sp>
    </p:spTree>
  </p:cSld>
  <p:transition spd="fast">
    <p:fade/>
  </p:transition>
  <p:clrMapOvr>
    <a:masterClrMapping/>
  </p:clrMapOvr>
</p:sld>
</file>

<file path=ppt/slides/slide4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preservation: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volatile session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Snapshot prompts, memory, policies, logs and tool outputs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chain of custody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Stored hash matches acquisition hash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Investigation changes or loses ephemeral context</a:t>
            </a:r>
          </a:p>
        </p:txBody>
      </p:sp>
    </p:spTree>
  </p:cSld>
  <p:transition spd="fast">
    <p:fade/>
  </p:transition>
  <p:clrMapOvr>
    <a:masterClrMapping/>
  </p:clrMapOvr>
</p:sld>
</file>

<file path=ppt/slides/slide4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preservation: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evidence_id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collected_at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collector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location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Evidence preservation: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Stored hash matches acquisition hash.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replay: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Ordered Events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ordered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versions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Mock Tools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mock 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Deterministic Replay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deterministic replay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Replay with fixed artifacts and recorded tool outputs</a:t>
            </a:r>
          </a:p>
        </p:txBody>
      </p:sp>
    </p:spTree>
  </p:cSld>
  <p:transition spd="fast">
    <p:fade/>
  </p:transition>
  <p:clrMapOvr>
    <a:masterClrMapping/>
  </p:clrMapOvr>
</p:sld>
</file>

<file path=ppt/slides/slide4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replay: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ordered events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Replay with fixed artifacts and recorded tool outputs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deterministic replay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Replay identifies the first policy divergence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Team cannot reproduce the malicious decision path</a:t>
            </a:r>
          </a:p>
        </p:txBody>
      </p:sp>
    </p:spTree>
  </p:cSld>
  <p:transition spd="fast">
    <p:fade/>
  </p:transition>
  <p:clrMapOvr>
    <a:masterClrMapping/>
  </p:clrMapOvr>
</p:sld>
</file>

<file path=ppt/slides/slide4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replay: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trace_id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model_version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prompt_hash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tool_fixtures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outcome_diff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Session replay: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Replay identifies the first policy divergence.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Eradication: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root cause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Prompt/Policy/Tool Fix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prompt/policy/tool fix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Regression Tests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regression tests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Redeploy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redeploy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Tie eradication to tested artifact changes</a:t>
            </a:r>
          </a:p>
        </p:txBody>
      </p:sp>
    </p:spTree>
  </p:cSld>
  <p:transition spd="fast">
    <p:fade/>
  </p:transition>
  <p:clrMapOvr>
    <a:masterClrMapping/>
  </p:clrMapOvr>
</p:sld>
</file>

<file path=ppt/slides/slide4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Eradication: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429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root cause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Tie eradication to tested artifact changes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redeploy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Original attack fixture fails after the fix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Agent returns with the same vulnerable configuration</a:t>
            </a:r>
          </a:p>
        </p:txBody>
      </p:sp>
    </p:spTree>
  </p:cSld>
  <p:transition spd="fast">
    <p:fade/>
  </p:transition>
  <p:clrMapOvr>
    <a:masterClrMapping/>
  </p:clrMapOvr>
</p:sld>
</file>

<file path=ppt/slides/slide4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Eradication: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root_cause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changed_artifacts[]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tests[]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approver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release_id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Eradication: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Original attack fixture fails after the fix.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Recovery: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12496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62648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Clean Release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clean release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84758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62706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349115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1578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Staged Enablement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90722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staged enablement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570214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085332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7174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04204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3348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monitoring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807958" y="1901952"/>
            <a:ext cx="2484882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9436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26830" y="2816352"/>
            <a:ext cx="2247138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Normal Service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35974" y="3273552"/>
            <a:ext cx="222885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normal service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Recover through canary stages with rollback thresholds</a:t>
            </a:r>
          </a:p>
        </p:txBody>
      </p:sp>
    </p:spTree>
  </p:cSld>
  <p:transition spd="fast">
    <p:fade/>
  </p:transition>
  <p:clrMapOvr>
    <a:masterClrMapping/>
  </p:clrMapOvr>
</p:sld>
</file>

<file path=ppt/slides/slide4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Recovery: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clean release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Recover through canary stages with rollback thresholds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normal service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Canary stays healthy for the defined observation window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Full fleet resumes before controls are proven</a:t>
            </a:r>
          </a:p>
        </p:txBody>
      </p:sp>
    </p:spTree>
  </p:cSld>
  <p:transition spd="fast">
    <p:fade/>
  </p:transition>
  <p:clrMapOvr>
    <a:masterClrMapping/>
  </p:clrMapOvr>
</p:sld>
</file>

<file path=ppt/slides/slide4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Recovery: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release_id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canary_pct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health_metrics[]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rollback_threshold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control_6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explicit value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Reject if missing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Recovery: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Canary stays healthy for the defined observation window.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Lessons and metrics: architecture and control boundary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NIST AI RMF · OWASP ASI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Incident Timeline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incident timeline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Control Gaps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control gaps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actions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verification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Trend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State and evidence for trend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Control objective: Require evidence-based closure and recurrence metrics</a:t>
            </a:r>
          </a:p>
        </p:txBody>
      </p:sp>
    </p:spTree>
  </p:cSld>
  <p:transition spd="fast">
    <p:fade/>
  </p:transition>
  <p:clrMapOvr>
    <a:masterClrMapping/>
  </p:clrMapOvr>
</p:sld>
</file>

<file path=ppt/slides/slide4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RUNTIME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Lessons and metrics: runtime decision trace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Supplied AI-security reference corpus · MITRE ATLAS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Observe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incident timeline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Correlate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trace_id + agent_id + policy_version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Decide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 evidence-based closure and recurrence metrics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trend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Action is closed only after the acceptance test passes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Failure to detect: Post-incident actions close administratively but not technically</a:t>
            </a:r>
          </a:p>
        </p:txBody>
      </p:sp>
    </p:spTree>
  </p:cSld>
  <p:transition spd="fast">
    <p:fade/>
  </p:transition>
  <p:clrMapOvr>
    <a:masterClrMapping/>
  </p:clrMapOvr>
</p:sld>
</file>

<file path=ppt/slides/slide4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CONFIGURATION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Lessons and metrics: concrete control contract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Executable teaching contract derived from the supplied course reference corpus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Field / key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Expected value or type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Enforcement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field_1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lesson_id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control_gap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field_3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action_owner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due_date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field_5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field_6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metric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Required in decision and audit evidence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Lessons and metrics: evidence and acceptance decision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439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Synthetic training evidence; values are illustrative, not external performance claims</a:t>
            </a:r>
          </a:p>
        </p:txBody>
      </p:sp>
      <p:graphicFrame>
        <p:nvGraphicFramePr>
          <p:cNvPr id="23" name="Chart 22"/>
          <p:cNvGraphicFramePr>
            <a:graphicFrameLocks noGrp="1"/>
          </p:cNvGraphicFramePr>
          <p:nvPr/>
        </p:nvGraphicFramePr>
        <p:xfrm>
          <a:off x="713232" y="1572768"/>
          <a:ext cx="67208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7754112" y="1700784"/>
            <a:ext cx="3346704" cy="391363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1975104"/>
            <a:ext cx="27889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F09C22"/>
                </a:solidFill>
                <a:latin typeface="Aptos"/>
              </a:rPr>
              <a:t>DECISION RULE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28431" y="2432304"/>
            <a:ext cx="2788920" cy="13350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1600" b="1">
                <a:solidFill>
                  <a:srgbClr val="0B1F33"/>
                </a:solidFill>
                <a:latin typeface="Aptos"/>
              </a:rPr>
              <a:t>Accept only when Action is closed only after the acceptance test passes. Otherwise record a gap, owner and due date.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28431" y="4096512"/>
            <a:ext cx="2788920" cy="31089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100" b="1">
                <a:solidFill>
                  <a:srgbClr val="5B6776"/>
                </a:solidFill>
                <a:latin typeface="Aptos"/>
              </a:rPr>
              <a:t>EVIDENCE STATUS</a:t>
            </a:r>
          </a:p>
        </p:txBody>
      </p:sp>
      <p:sp>
        <p:nvSpPr>
          <p:cNvPr id="28" name="Oval 27"/>
          <p:cNvSpPr/>
          <p:nvPr/>
        </p:nvSpPr>
        <p:spPr>
          <a:xfrm>
            <a:off x="8805672" y="4517136"/>
            <a:ext cx="1124712" cy="1124712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PASS</a:t>
            </a:r>
          </a:p>
        </p:txBody>
      </p:sp>
    </p:spTree>
  </p:cSld>
  <p:transition spd="fast">
    <p:fade/>
  </p:transition>
  <p:clrMapOvr>
    <a:masterClrMapping/>
  </p:clrMapOvr>
</p:sld>
</file>

<file path=ppt/slides/slide4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08 — Detect Suspicious Agent Behaviour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activity-08-agent-detection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mock_events.jsonl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detections.json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The detector finds abnormal tool rates, new destinations, blocked actions and sensitive-read/egress chains.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4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08: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mock_events.jsonl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detections.json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The detector finds abnormal tool rates, new destinations, blocked actions and sensitive-read/egress chains.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4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08: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mock_events.jsonl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detections.json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detections.json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09 — Contain a Prompt-Injection Incident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activity-09-prompt-injection-response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mock_incident.json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containment_record.json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The record proves agent disablement, token revocation, egress block and evidence preservation in the correct order.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4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09: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mock_incident.json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containment_record.json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The record proves agent disablement, token revocation, egress block and evidence preservation in the correct order.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4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09: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mock_incident.json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containment_record.json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containment_record.json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HANDS-ON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10 — Run Recovery and Post-Incident Review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folder and synthetic mock 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Scenario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synthetic data in activity-10-recovery-tabletop to make a security-operations decision.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Input contract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mock_recovery.json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Runnable evidence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activity.py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Output artifact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after_action_report.md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Acceptance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Recovery gates, rollback criteria, lessons, owners and acceptance tests are complete.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Safety boundary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Offline simulation only; no live credentials, systems or external services.</a:t>
            </a:r>
          </a:p>
        </p:txBody>
      </p:sp>
    </p:spTree>
  </p:cSld>
  <p:transition spd="fast">
    <p:fade/>
  </p:transition>
  <p:clrMapOvr>
    <a:masterClrMapping/>
  </p:clrMapOvr>
</p:sld>
</file>

<file path=ppt/slides/slide4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PRACTICE BRIDGE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10: mechanism model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design; complete procedure is in the Learner Guide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580436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5422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Load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mock_recovery.json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758537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818180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5323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37052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Validate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46196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required fields and types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936638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996281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710427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15153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Evaluate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4297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control and decision rules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114739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174382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788852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93254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Produce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02398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after_action_report.md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52483" y="1901952"/>
            <a:ext cx="1940356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0066629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71355" y="2816352"/>
            <a:ext cx="1702612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Verify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80499" y="3273552"/>
            <a:ext cx="1684324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Recovery gates, rollback criteria, lessons, owners and acceptance tests are complete.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The PPT shows the mechanism and evidence path; the click-by-click procedure remains in the Learner Guide.</a:t>
            </a:r>
          </a:p>
        </p:txBody>
      </p:sp>
    </p:spTree>
  </p:cSld>
  <p:transition spd="fast">
    <p:fade/>
  </p:transition>
  <p:clrMapOvr>
    <a:masterClrMapping/>
  </p:clrMapOvr>
</p:sld>
</file>

<file path=ppt/slides/slide4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A7 · EXPECTED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Activity 10: evidence artifact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Aligned activity files in labs/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85800" y="1572768"/>
          <a:ext cx="105613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46120"/>
                <a:gridCol w="5303520"/>
              </a:tblGrid>
              <a:tr h="620485"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Element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Concrete artifact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Verification purpose</a:t>
                      </a:r>
                    </a:p>
                  </a:txBody>
                  <a:tcPr marL="91440" marR="91440" marT="45720" marB="45720">
                    <a:solidFill>
                      <a:srgbClr val="F09C22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Input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mock_recovery.json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Synthetic source supplied in the activity folder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Processor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activity.py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Python 3 standard library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after_action_report.md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Generated locally and reproducible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Criterion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A7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Maps directly to the practical assessment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Decision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PASS or treatment action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Must reconcile with mock values</a:t>
                      </a:r>
                    </a:p>
                  </a:txBody>
                  <a:tcPr marL="91440" marR="91440" marT="45720" marB="45720">
                    <a:solidFill>
                      <a:srgbClr val="F4F8FA"/>
                    </a:solidFill>
                  </a:tcPr>
                </a:tc>
              </a:tr>
              <a:tr h="620490">
                <a:tc>
                  <a:txBody>
                    <a:bodyPr wrap="square" anchor="ctr"/>
                    <a:lstStyle/>
                    <a:p>
                      <a:r>
                        <a:rPr sz="1100" b="1">
                          <a:solidFill>
                            <a:srgbClr val="152335"/>
                          </a:solidFill>
                          <a:latin typeface="Aptos"/>
                        </a:rPr>
                        <a:t>Cleanup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Delete after_action_report.md only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 wrap="square" anchor="ctr"/>
                    <a:lstStyle/>
                    <a:p>
                      <a:r>
                        <a:rPr sz="1100" b="0">
                          <a:solidFill>
                            <a:srgbClr val="152335"/>
                          </a:solidFill>
                          <a:latin typeface="Aptos"/>
                        </a:rPr>
                        <a:t>Retain script and mock data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Oval 23"/>
          <p:cNvSpPr/>
          <p:nvPr/>
        </p:nvSpPr>
        <p:spPr>
          <a:xfrm>
            <a:off x="384048" y="2084831"/>
            <a:ext cx="146304" cy="146304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139696"/>
            <a:ext cx="137160" cy="27432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84048" y="2670048"/>
            <a:ext cx="146304" cy="146304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28600" y="2724912"/>
            <a:ext cx="137160" cy="27432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84048" y="3255263"/>
            <a:ext cx="146304" cy="146304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28600" y="3310128"/>
            <a:ext cx="137160" cy="27432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3840479"/>
            <a:ext cx="146304" cy="14630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28600" y="3895344"/>
            <a:ext cx="137160" cy="27432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84048" y="4425696"/>
            <a:ext cx="146304" cy="146304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28600" y="4480560"/>
            <a:ext cx="137160" cy="27432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384048" y="5010912"/>
            <a:ext cx="146304" cy="146304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28600" y="5065776"/>
            <a:ext cx="137160" cy="27432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>
    <p:fade/>
  </p:transition>
  <p:clrMapOvr>
    <a:masterClrMapping/>
  </p:clrMapOvr>
</p:sld>
</file>

<file path=ppt/slides/slide4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LO4 · K7, A7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Topic 04 technical recap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449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Topic technical-anchor inventory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Agent disablement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Disabled agent cannot start or call tools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Evidence preservation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Stored hash matches acquisition hash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Session replay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Replay identifies the first policy divergence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Eradication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Original attack fixture fails after the fix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Recovery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Canary stays healthy for the defined observation window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Lessons and metrics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Action is closed only after the acceptance test passes</a:t>
            </a:r>
          </a:p>
        </p:txBody>
      </p:sp>
    </p:spTree>
  </p:cSld>
  <p:transition spd="fast">
    <p:fade/>
  </p:transition>
  <p:clrMapOvr>
    <a:masterClrMapping/>
  </p:clrMapOvr>
</p:sld>
</file>

<file path=ppt/slides/slide4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opic-04-respon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280160"/>
            <a:ext cx="5440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300" b="1">
                <a:solidFill>
                  <a:srgbClr val="00898B"/>
                </a:solidFill>
                <a:latin typeface="Aptos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47088"/>
            <a:ext cx="5440680" cy="19202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3500" b="1">
                <a:solidFill>
                  <a:srgbClr val="0B1F33"/>
                </a:solidFill>
                <a:latin typeface="Aptos"/>
              </a:rPr>
              <a:t>From strategy to resilient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257800" cy="11704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500" b="0">
                <a:solidFill>
                  <a:srgbClr val="5B6776"/>
                </a:solidFill>
                <a:latin typeface="Aptos"/>
              </a:rPr>
              <a:t>Goals → policy → risk → telemetry → containment → recovery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450</a:t>
            </a:r>
          </a:p>
        </p:txBody>
      </p:sp>
    </p:spTree>
  </p:cSld>
  <p:transition spd="fast">
    <p:push/>
  </p:transition>
  <p:clrMapOvr>
    <a:masterClrMapping/>
  </p:clrMapOvr>
</p:sld>
</file>

<file path=ppt/slides/slide4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LEARNING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What you can now do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Official current course outcomes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LO1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Formulate comprehensive security goals and establish business standards with an overarching security vision for autonomous AI agents.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LO2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Communicate effective agent-security policies and practices, and manage compliance with best practices and technological advancements.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LO3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Evaluate existing agent-security controls against business risks and costs, and develop strategies to resolve identified security gaps.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LO4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Implement organisation-wide agent-security initiatives, assessing and addressing the impact of security gaps.</a:t>
            </a:r>
          </a:p>
        </p:txBody>
      </p:sp>
    </p:spTree>
  </p:cSld>
  <p:transition spd="fast">
    <p:fade/>
  </p:transition>
  <p:clrMapOvr>
    <a:masterClrMapping/>
  </p:clrMapOvr>
</p:sld>
</file>

<file path=ppt/slides/slide4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CLOSING BLOCK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452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Verified legacy assessment mapping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WA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7 open-ended questions · K1–K7 · 1 hour.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PP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6 practical tasks · A1–A7 · 3 hours.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Submission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Upload completed answers to lms-tms.tertiaryinfotech.com.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Materials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Use the approved slides, Learner Guide and activity files.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Evidence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Outputs must reconcile with the supplied mock data.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Privacy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Answer keys remain trainer-only.</a:t>
            </a:r>
          </a:p>
        </p:txBody>
      </p:sp>
    </p:spTree>
  </p:cSld>
  <p:transition spd="fast">
    <p:fade/>
  </p:transition>
  <p:clrMapOvr>
    <a:masterClrMapping/>
  </p:clrMapOvr>
</p:sld>
</file>

<file path=ppt/slides/slide4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F09C22"/>
                </a:solidFill>
                <a:latin typeface="Aptos"/>
              </a:rPr>
              <a:t>CLOSING BLOCK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Assessment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F09C22"/>
                </a:solidFill>
                <a:latin typeface="Aptos"/>
              </a:rPr>
              <a:t>453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WSQ assessment workflow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217420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40080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17271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TRAQOM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Survey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032503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455163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87801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4035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Attendance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83179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Assessment QR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847588" y="3090672"/>
            <a:ext cx="237743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4270248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802886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WA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98264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Knowledge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662672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6085332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617970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04204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PP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3348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Ability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477755" y="3090672"/>
            <a:ext cx="237744" cy="0"/>
          </a:xfrm>
          <a:prstGeom prst="line">
            <a:avLst/>
          </a:prstGeom>
          <a:ln w="25400">
            <a:solidFill>
              <a:srgbClr val="F09C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7900415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433054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19288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Submit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28431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LMS/TMS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715499" y="1901952"/>
            <a:ext cx="1577339" cy="2359152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0248138" y="2121408"/>
            <a:ext cx="512064" cy="512064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34372" y="2816352"/>
            <a:ext cx="1339595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300" b="1">
                <a:solidFill>
                  <a:srgbClr val="F09C22"/>
                </a:solidFill>
                <a:latin typeface="Aptos"/>
              </a:rPr>
              <a:t>Sign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43515" y="3273552"/>
            <a:ext cx="1321307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150" b="0">
                <a:solidFill>
                  <a:srgbClr val="152335"/>
                </a:solidFill>
                <a:latin typeface="Aptos"/>
              </a:rPr>
              <a:t>Sign Assessment Summary Record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1520" y="4608576"/>
            <a:ext cx="10442448" cy="868680"/>
          </a:xfrm>
          <a:prstGeom prst="roundRect">
            <a:avLst/>
          </a:prstGeom>
          <a:solidFill>
            <a:srgbClr val="E9F7F5"/>
          </a:solidFill>
          <a:ln w="10160">
            <a:solidFill>
              <a:srgbClr val="008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" y="4791456"/>
            <a:ext cx="9985248" cy="47548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B1F33"/>
                </a:solidFill>
                <a:latin typeface="Aptos"/>
              </a:rPr>
              <a:t>Complete the full sequence and retain submission evidence.</a:t>
            </a:r>
          </a:p>
        </p:txBody>
      </p:sp>
    </p:spTree>
  </p:cSld>
  <p:transition spd="fast">
    <p:fade/>
  </p:transition>
  <p:clrMapOvr>
    <a:masterClrMapping/>
  </p:clrMapOvr>
</p:sld>
</file>

<file path=ppt/slides/slide4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CLOSING BLOCK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Digital attendance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454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WSQ course administration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1536192"/>
            <a:ext cx="73152" cy="119786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59536" y="1719072"/>
            <a:ext cx="384048" cy="3840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898B"/>
                </a:solidFill>
                <a:latin typeface="Aptos"/>
              </a:rPr>
              <a:t>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Recorded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5" y="153619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63055" y="1536192"/>
            <a:ext cx="73152" cy="1197864"/>
          </a:xfrm>
          <a:prstGeom prst="rect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64223" y="1719072"/>
            <a:ext cx="384048" cy="384048"/>
          </a:xfrm>
          <a:prstGeom prst="ellipse">
            <a:avLst/>
          </a:prstGeom>
          <a:solidFill>
            <a:srgbClr val="00B8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6288" y="170992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00B8D4"/>
                </a:solidFill>
                <a:latin typeface="Aptos"/>
              </a:rPr>
              <a:t>PM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76288" y="210312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Recorded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2999232"/>
            <a:ext cx="73152" cy="1197864"/>
          </a:xfrm>
          <a:prstGeom prst="rect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59536" y="3182112"/>
            <a:ext cx="384048" cy="384048"/>
          </a:xfrm>
          <a:prstGeom prst="ellipse">
            <a:avLst/>
          </a:prstGeom>
          <a:solidFill>
            <a:srgbClr val="6D4A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71600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6D4AC9"/>
                </a:solidFill>
                <a:latin typeface="Aptos"/>
              </a:rPr>
              <a:t>Assessment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Recorded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63055" y="299923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63055" y="2999232"/>
            <a:ext cx="73152" cy="1197864"/>
          </a:xfrm>
          <a:prstGeom prst="rect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364223" y="3182112"/>
            <a:ext cx="384048" cy="384048"/>
          </a:xfrm>
          <a:prstGeom prst="ellipse">
            <a:avLst/>
          </a:prstGeom>
          <a:solidFill>
            <a:srgbClr val="F09C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76288" y="317296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F09C22"/>
                </a:solidFill>
                <a:latin typeface="Aptos"/>
              </a:rPr>
              <a:t>Minimum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76288" y="356616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75%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58368" y="4462272"/>
            <a:ext cx="73152" cy="1197864"/>
          </a:xfrm>
          <a:prstGeom prst="rect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9536" y="4645152"/>
            <a:ext cx="384048" cy="384048"/>
          </a:xfrm>
          <a:prstGeom prst="ellipse">
            <a:avLst/>
          </a:prstGeom>
          <a:solidFill>
            <a:srgbClr val="E65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71600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E65C55"/>
                </a:solidFill>
                <a:latin typeface="Aptos"/>
              </a:rPr>
              <a:t>Failure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371600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Tell trainer immediately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63055" y="4462272"/>
            <a:ext cx="5257800" cy="1197864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5" y="4462272"/>
            <a:ext cx="73152" cy="1197864"/>
          </a:xfrm>
          <a:prstGeom prst="rect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364223" y="4645152"/>
            <a:ext cx="384048" cy="384048"/>
          </a:xfrm>
          <a:prstGeom prst="ellipse">
            <a:avLst/>
          </a:prstGeom>
          <a:solidFill>
            <a:srgbClr val="209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76288" y="4636008"/>
            <a:ext cx="436168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400" b="1">
                <a:solidFill>
                  <a:srgbClr val="209A69"/>
                </a:solidFill>
                <a:latin typeface="Aptos"/>
              </a:rPr>
              <a:t>Evidence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76288" y="5029200"/>
            <a:ext cx="4343400" cy="484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250" b="0">
                <a:solidFill>
                  <a:srgbClr val="152335"/>
                </a:solidFill>
                <a:latin typeface="Aptos"/>
              </a:rPr>
              <a:t>Successful confirmation screen</a:t>
            </a:r>
          </a:p>
        </p:txBody>
      </p:sp>
    </p:spTree>
  </p:cSld>
  <p:transition spd="fast">
    <p:fade/>
  </p:transition>
  <p:clrMapOvr>
    <a:masterClrMapping/>
  </p:clrMapOvr>
</p:sld>
</file>

<file path=ppt/slides/slide4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CLOSING BLOCK 4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Thank you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539728" y="1188720"/>
            <a:ext cx="219456" cy="4709160"/>
          </a:xfrm>
          <a:prstGeom prst="roundRect">
            <a:avLst/>
          </a:prstGeom>
          <a:solidFill>
            <a:srgbClr val="F4F8FA"/>
          </a:solidFill>
          <a:ln w="10160">
            <a:solidFill>
              <a:srgbClr val="DA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571732" y="1417320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22607" y="147218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571732" y="2167128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722607" y="2221992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571732" y="2916936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722607" y="2971800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571732" y="3666744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722607" y="3721608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71732" y="4416552"/>
            <a:ext cx="155448" cy="155448"/>
          </a:xfrm>
          <a:prstGeom prst="ellipse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722607" y="4471416"/>
            <a:ext cx="91440" cy="32004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571732" y="5166359"/>
            <a:ext cx="155448" cy="155448"/>
          </a:xfrm>
          <a:prstGeom prst="ellipse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1722607" y="5221224"/>
            <a:ext cx="91440" cy="32004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455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Course conclusion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1965960"/>
            <a:ext cx="9921240" cy="10972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/>
            <a:r>
              <a:rPr sz="3100" b="1">
                <a:solidFill>
                  <a:srgbClr val="0B1F33"/>
                </a:solidFill>
                <a:latin typeface="Aptos"/>
              </a:rPr>
              <a:t>Secure autonomy is an operating capability—designed, measured, rehearsed and improved.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0" y="3822191"/>
            <a:ext cx="8686800" cy="42062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1400" b="1">
                <a:solidFill>
                  <a:srgbClr val="00898B"/>
                </a:solidFill>
                <a:latin typeface="Aptos"/>
              </a:rPr>
              <a:t>enquiry@tertiaryinfotech.com · +65 6100 0613 · tertiarycourses.com.sg</a:t>
            </a:r>
          </a:p>
        </p:txBody>
      </p:sp>
    </p:spTree>
  </p:cSld>
  <p:transition spd="fast">
    <p:fade/>
  </p:transition>
  <p:clrMapOvr>
    <a:masterClrMapping/>
  </p:clrMapOvr>
</p:sld>
</file>

<file path=ppt/slides/slide4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8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789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1000" b="1">
                <a:solidFill>
                  <a:srgbClr val="00898B"/>
                </a:solidFill>
                <a:latin typeface="Aptos"/>
              </a:rPr>
              <a:t>COURSE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0652760" cy="71323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/>
            <a:r>
              <a:rPr sz="2900" b="1">
                <a:solidFill>
                  <a:srgbClr val="152335"/>
                </a:solidFill>
                <a:latin typeface="Aptos"/>
              </a:rPr>
              <a:t>Login to LMS and Download Course Material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" y="6345936"/>
            <a:ext cx="11082528" cy="13716"/>
          </a:xfrm>
          <a:prstGeom prst="rect">
            <a:avLst/>
          </a:prstGeom>
          <a:solidFill>
            <a:srgbClr val="DAE4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6400800"/>
            <a:ext cx="60350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50" b="0">
                <a:solidFill>
                  <a:srgbClr val="5B6776"/>
                </a:solidFill>
                <a:latin typeface="Aptos"/>
              </a:rPr>
              <a:t>Security Operations for Autonomous AI Agents · TGS-2024042604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400800"/>
            <a:ext cx="420624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/>
            <a:r>
              <a:rPr sz="850" b="0">
                <a:solidFill>
                  <a:srgbClr val="5B6776"/>
                </a:solidFill>
                <a:latin typeface="Aptos"/>
              </a:rPr>
              <a:t>© 2026 Tertiary Infotech Academy Pte Ltd · UEN 201200696W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82512"/>
            <a:ext cx="5029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/>
            <a:r>
              <a:rPr sz="900" b="1">
                <a:solidFill>
                  <a:srgbClr val="00898B"/>
                </a:solidFill>
                <a:latin typeface="Aptos"/>
              </a:rPr>
              <a:t>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126480"/>
            <a:ext cx="106527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/>
            <a:r>
              <a:rPr sz="800" b="0">
                <a:solidFill>
                  <a:srgbClr val="8A94A3"/>
                </a:solidFill>
                <a:latin typeface="Aptos"/>
              </a:rPr>
              <a:t>Tertiary Infotech LMS/TMS workflow</a:t>
            </a:r>
          </a:p>
        </p:txBody>
      </p:sp>
      <p:pic>
        <p:nvPicPr>
          <p:cNvPr id="23" name="Picture 22" descr="ref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54" y="1577340"/>
            <a:ext cx="7875786" cy="3918204"/>
          </a:xfrm>
          <a:prstGeom prst="rect">
            <a:avLst/>
          </a:prstGeom>
          <a:ln w="12700">
            <a:solidFill>
              <a:srgbClr val="E2E8F0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609584" y="5577840"/>
            <a:ext cx="10972527" cy="459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>
                <a:solidFill>
                  <a:srgbClr val="475569"/>
                </a:solidFill>
                <a:latin typeface="Aptos"/>
              </a:rPr>
              <a:t>Log in at lms-tms.tertiaryinfotech.com with your registered email and the OTP sent to your inbox, then open this course to download the slides and Learner Guide.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