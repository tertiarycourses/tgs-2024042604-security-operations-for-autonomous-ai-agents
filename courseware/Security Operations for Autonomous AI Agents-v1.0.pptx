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71.xml" ContentType="application/vnd.openxmlformats-officedocument.drawingml.chart+xml"/>
  <Override PartName="/ppt/charts/chart72.xml" ContentType="application/vnd.openxmlformats-officedocument.drawingml.chart+xml"/>
  <Override PartName="/ppt/charts/chart73.xml" ContentType="application/vnd.openxmlformats-officedocument.drawingml.chart+xml"/>
  <Override PartName="/ppt/charts/chart74.xml" ContentType="application/vnd.openxmlformats-officedocument.drawingml.chart+xml"/>
  <Override PartName="/ppt/charts/chart75.xml" ContentType="application/vnd.openxmlformats-officedocument.drawingml.chart+xml"/>
  <Override PartName="/ppt/charts/chart76.xml" ContentType="application/vnd.openxmlformats-officedocument.drawingml.chart+xml"/>
  <Override PartName="/ppt/charts/chart77.xml" ContentType="application/vnd.openxmlformats-officedocument.drawingml.chart+xml"/>
  <Override PartName="/ppt/charts/chart78.xml" ContentType="application/vnd.openxmlformats-officedocument.drawingml.chart+xml"/>
  <Override PartName="/ppt/charts/chart79.xml" ContentType="application/vnd.openxmlformats-officedocument.drawingml.chart+xml"/>
  <Override PartName="/ppt/charts/chart8.xml" ContentType="application/vnd.openxmlformats-officedocument.drawingml.chart+xml"/>
  <Override PartName="/ppt/charts/chart80.xml" ContentType="application/vnd.openxmlformats-officedocument.drawingml.chart+xml"/>
  <Override PartName="/ppt/charts/chart81.xml" ContentType="application/vnd.openxmlformats-officedocument.drawingml.chart+xml"/>
  <Override PartName="/ppt/charts/chart82.xml" ContentType="application/vnd.openxmlformats-officedocument.drawingml.chart+xml"/>
  <Override PartName="/ppt/charts/chart83.xml" ContentType="application/vnd.openxmlformats-officedocument.drawingml.chart+xml"/>
  <Override PartName="/ppt/charts/chart84.xml" ContentType="application/vnd.openxmlformats-officedocument.drawingml.chart+xml"/>
  <Override PartName="/ppt/charts/chart85.xml" ContentType="application/vnd.openxmlformats-officedocument.drawingml.chart+xml"/>
  <Override PartName="/ppt/charts/chart86.xml" ContentType="application/vnd.openxmlformats-officedocument.drawingml.chart+xml"/>
  <Override PartName="/ppt/charts/chart87.xml" ContentType="application/vnd.openxmlformats-officedocument.drawingml.chart+xml"/>
  <Override PartName="/ppt/charts/chart88.xml" ContentType="application/vnd.openxmlformats-officedocument.drawingml.chart+xml"/>
  <Override PartName="/ppt/charts/chart89.xml" ContentType="application/vnd.openxmlformats-officedocument.drawingml.chart+xml"/>
  <Override PartName="/ppt/charts/chart9.xml" ContentType="application/vnd.openxmlformats-officedocument.drawingml.chart+xml"/>
  <Override PartName="/ppt/charts/chart90.xml" ContentType="application/vnd.openxmlformats-officedocument.drawingml.chart+xml"/>
  <Override PartName="/ppt/charts/chart91.xml" ContentType="application/vnd.openxmlformats-officedocument.drawingml.chart+xml"/>
  <Override PartName="/ppt/charts/chart92.xml" ContentType="application/vnd.openxmlformats-officedocument.drawingml.chart+xml"/>
  <Override PartName="/ppt/charts/chart93.xml" ContentType="application/vnd.openxmlformats-officedocument.drawingml.chart+xml"/>
  <Override PartName="/ppt/charts/chart94.xml" ContentType="application/vnd.openxmlformats-officedocument.drawingml.chart+xml"/>
  <Override PartName="/ppt/charts/chart95.xml" ContentType="application/vnd.openxmlformats-officedocument.drawingml.chart+xml"/>
  <Override PartName="/ppt/charts/chart9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_rels/chart7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1.xlsx"/></Relationships>
</file>

<file path=ppt/charts/_rels/chart7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2.xlsx"/></Relationships>
</file>

<file path=ppt/charts/_rels/chart7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3.xlsx"/></Relationships>
</file>

<file path=ppt/charts/_rels/chart7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4.xlsx"/></Relationships>
</file>

<file path=ppt/charts/_rels/chart7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5.xlsx"/></Relationships>
</file>

<file path=ppt/charts/_rels/chart7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6.xlsx"/></Relationships>
</file>

<file path=ppt/charts/_rels/chart7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7.xlsx"/></Relationships>
</file>

<file path=ppt/charts/_rels/chart7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8.xlsx"/></Relationships>
</file>

<file path=ppt/charts/_rels/chart7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9.xlsx"/></Relationships>
</file>

<file path=ppt/charts/_rels/chart8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0.xlsx"/></Relationships>
</file>

<file path=ppt/charts/_rels/chart8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1.xlsx"/></Relationships>
</file>

<file path=ppt/charts/_rels/chart8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2.xlsx"/></Relationships>
</file>

<file path=ppt/charts/_rels/chart8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3.xlsx"/></Relationships>
</file>

<file path=ppt/charts/_rels/chart8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4.xlsx"/></Relationships>
</file>

<file path=ppt/charts/_rels/chart8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5.xlsx"/></Relationships>
</file>

<file path=ppt/charts/_rels/chart8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6.xlsx"/></Relationships>
</file>

<file path=ppt/charts/_rels/chart8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7.xlsx"/></Relationships>
</file>

<file path=ppt/charts/_rels/chart8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8.xlsx"/></Relationships>
</file>

<file path=ppt/charts/_rels/chart8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9.xlsx"/></Relationships>
</file>

<file path=ppt/charts/_rels/chart9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0.xlsx"/></Relationships>
</file>

<file path=ppt/charts/_rels/chart9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1.xlsx"/></Relationships>
</file>

<file path=ppt/charts/_rels/chart9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2.xlsx"/></Relationships>
</file>

<file path=ppt/charts/_rels/chart9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3.xlsx"/></Relationships>
</file>

<file path=ppt/charts/_rels/chart9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4.xlsx"/></Relationships>
</file>

<file path=ppt/charts/_rels/chart9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5.xlsx"/></Relationships>
</file>

<file path=ppt/charts/_rels/chart9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67</c:v>
                </c:pt>
                <c:pt idx="2">
                  <c:v>72</c:v>
                </c:pt>
                <c:pt idx="3">
                  <c:v>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60</c:v>
                </c:pt>
                <c:pt idx="2">
                  <c:v>79</c:v>
                </c:pt>
                <c:pt idx="3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73</c:v>
                </c:pt>
                <c:pt idx="2">
                  <c:v>81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71</c:v>
                </c:pt>
                <c:pt idx="2">
                  <c:v>83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67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69</c:v>
                </c:pt>
                <c:pt idx="2">
                  <c:v>78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71</c:v>
                </c:pt>
                <c:pt idx="2">
                  <c:v>80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59</c:v>
                </c:pt>
                <c:pt idx="2">
                  <c:v>86</c:v>
                </c:pt>
                <c:pt idx="3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60</c:v>
                </c:pt>
                <c:pt idx="2">
                  <c:v>73</c:v>
                </c:pt>
                <c:pt idx="3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64</c:v>
                </c:pt>
                <c:pt idx="2">
                  <c:v>72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51</c:v>
                </c:pt>
                <c:pt idx="1">
                  <c:v>72</c:v>
                </c:pt>
                <c:pt idx="2">
                  <c:v>74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66</c:v>
                </c:pt>
                <c:pt idx="2">
                  <c:v>83</c:v>
                </c:pt>
                <c:pt idx="3">
                  <c:v>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51</c:v>
                </c:pt>
                <c:pt idx="1">
                  <c:v>71</c:v>
                </c:pt>
                <c:pt idx="2">
                  <c:v>83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59</c:v>
                </c:pt>
                <c:pt idx="2">
                  <c:v>82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</c:v>
                </c:pt>
                <c:pt idx="1">
                  <c:v>69</c:v>
                </c:pt>
                <c:pt idx="2">
                  <c:v>79</c:v>
                </c:pt>
                <c:pt idx="3">
                  <c:v>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</c:v>
                </c:pt>
                <c:pt idx="1">
                  <c:v>58</c:v>
                </c:pt>
                <c:pt idx="2">
                  <c:v>80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73</c:v>
                </c:pt>
                <c:pt idx="2">
                  <c:v>74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69</c:v>
                </c:pt>
                <c:pt idx="2">
                  <c:v>86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69</c:v>
                </c:pt>
                <c:pt idx="2">
                  <c:v>84</c:v>
                </c:pt>
                <c:pt idx="3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68</c:v>
                </c:pt>
                <c:pt idx="2">
                  <c:v>74</c:v>
                </c:pt>
                <c:pt idx="3">
                  <c:v>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58</c:v>
                </c:pt>
                <c:pt idx="2">
                  <c:v>79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61</c:v>
                </c:pt>
                <c:pt idx="2">
                  <c:v>85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63</c:v>
                </c:pt>
                <c:pt idx="2">
                  <c:v>74</c:v>
                </c:pt>
                <c:pt idx="3">
                  <c:v>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898B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73</c:v>
                </c:pt>
                <c:pt idx="2">
                  <c:v>85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58</c:v>
                </c:pt>
                <c:pt idx="2">
                  <c:v>84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66</c:v>
                </c:pt>
                <c:pt idx="2">
                  <c:v>84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</c:v>
                </c:pt>
                <c:pt idx="1">
                  <c:v>70</c:v>
                </c:pt>
                <c:pt idx="2">
                  <c:v>83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71</c:v>
                </c:pt>
                <c:pt idx="2">
                  <c:v>82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63</c:v>
                </c:pt>
                <c:pt idx="2">
                  <c:v>86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64</c:v>
                </c:pt>
                <c:pt idx="2">
                  <c:v>79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59</c:v>
                </c:pt>
                <c:pt idx="2">
                  <c:v>78</c:v>
                </c:pt>
                <c:pt idx="3">
                  <c:v>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</c:v>
                </c:pt>
                <c:pt idx="1">
                  <c:v>69</c:v>
                </c:pt>
                <c:pt idx="2">
                  <c:v>75</c:v>
                </c:pt>
                <c:pt idx="3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62</c:v>
                </c:pt>
                <c:pt idx="2">
                  <c:v>77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67</c:v>
                </c:pt>
                <c:pt idx="2">
                  <c:v>74</c:v>
                </c:pt>
                <c:pt idx="3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68</c:v>
                </c:pt>
                <c:pt idx="2">
                  <c:v>84</c:v>
                </c:pt>
                <c:pt idx="3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59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61</c:v>
                </c:pt>
                <c:pt idx="2">
                  <c:v>73</c:v>
                </c:pt>
                <c:pt idx="3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67</c:v>
                </c:pt>
                <c:pt idx="2">
                  <c:v>77</c:v>
                </c:pt>
                <c:pt idx="3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51</c:v>
                </c:pt>
                <c:pt idx="1">
                  <c:v>67</c:v>
                </c:pt>
                <c:pt idx="2">
                  <c:v>76</c:v>
                </c:pt>
                <c:pt idx="3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</c:v>
                </c:pt>
                <c:pt idx="1">
                  <c:v>65</c:v>
                </c:pt>
                <c:pt idx="2">
                  <c:v>80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69</c:v>
                </c:pt>
                <c:pt idx="2">
                  <c:v>81</c:v>
                </c:pt>
                <c:pt idx="3">
                  <c:v>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68</c:v>
                </c:pt>
                <c:pt idx="2">
                  <c:v>79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72</c:v>
                </c:pt>
                <c:pt idx="2">
                  <c:v>86</c:v>
                </c:pt>
                <c:pt idx="3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62</c:v>
                </c:pt>
                <c:pt idx="2">
                  <c:v>72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</c:v>
                </c:pt>
                <c:pt idx="1">
                  <c:v>68</c:v>
                </c:pt>
                <c:pt idx="2">
                  <c:v>84</c:v>
                </c:pt>
                <c:pt idx="3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61</c:v>
                </c:pt>
                <c:pt idx="2">
                  <c:v>79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68</c:v>
                </c:pt>
                <c:pt idx="2">
                  <c:v>85</c:v>
                </c:pt>
                <c:pt idx="3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00B8D4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67</c:v>
                </c:pt>
                <c:pt idx="2">
                  <c:v>83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64</c:v>
                </c:pt>
                <c:pt idx="2">
                  <c:v>74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70</c:v>
                </c:pt>
                <c:pt idx="2">
                  <c:v>74</c:v>
                </c:pt>
                <c:pt idx="3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73</c:v>
                </c:pt>
                <c:pt idx="2">
                  <c:v>85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63</c:v>
                </c:pt>
                <c:pt idx="2">
                  <c:v>79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58</c:v>
                </c:pt>
                <c:pt idx="2">
                  <c:v>73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63</c:v>
                </c:pt>
                <c:pt idx="2">
                  <c:v>80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67</c:v>
                </c:pt>
                <c:pt idx="2">
                  <c:v>75</c:v>
                </c:pt>
                <c:pt idx="3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58</c:v>
                </c:pt>
                <c:pt idx="2">
                  <c:v>84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63</c:v>
                </c:pt>
                <c:pt idx="2">
                  <c:v>86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72</c:v>
                </c:pt>
                <c:pt idx="2">
                  <c:v>86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68</c:v>
                </c:pt>
                <c:pt idx="2">
                  <c:v>78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73</c:v>
                </c:pt>
                <c:pt idx="2">
                  <c:v>83</c:v>
                </c:pt>
                <c:pt idx="3">
                  <c:v>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59</c:v>
                </c:pt>
                <c:pt idx="2">
                  <c:v>74</c:v>
                </c:pt>
                <c:pt idx="3">
                  <c:v>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</c:v>
                </c:pt>
                <c:pt idx="1">
                  <c:v>65</c:v>
                </c:pt>
                <c:pt idx="2">
                  <c:v>77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</c:v>
                </c:pt>
                <c:pt idx="1">
                  <c:v>70</c:v>
                </c:pt>
                <c:pt idx="2">
                  <c:v>75</c:v>
                </c:pt>
                <c:pt idx="3">
                  <c:v>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</c:v>
                </c:pt>
                <c:pt idx="1">
                  <c:v>73</c:v>
                </c:pt>
                <c:pt idx="2">
                  <c:v>84</c:v>
                </c:pt>
                <c:pt idx="3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73</c:v>
                </c:pt>
                <c:pt idx="2">
                  <c:v>82</c:v>
                </c:pt>
                <c:pt idx="3">
                  <c:v>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</c:v>
                </c:pt>
                <c:pt idx="1">
                  <c:v>65</c:v>
                </c:pt>
                <c:pt idx="2">
                  <c:v>76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62</c:v>
                </c:pt>
                <c:pt idx="2">
                  <c:v>77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58</c:v>
                </c:pt>
                <c:pt idx="2">
                  <c:v>86</c:v>
                </c:pt>
                <c:pt idx="3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</c:v>
                </c:pt>
                <c:pt idx="1">
                  <c:v>65</c:v>
                </c:pt>
                <c:pt idx="2">
                  <c:v>86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66</c:v>
                </c:pt>
                <c:pt idx="2">
                  <c:v>86</c:v>
                </c:pt>
                <c:pt idx="3">
                  <c:v>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</c:v>
                </c:pt>
                <c:pt idx="1">
                  <c:v>68</c:v>
                </c:pt>
                <c:pt idx="2">
                  <c:v>85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6D4AC9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</c:v>
                </c:pt>
                <c:pt idx="1">
                  <c:v>62</c:v>
                </c:pt>
                <c:pt idx="2">
                  <c:v>73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</c:v>
                </c:pt>
                <c:pt idx="1">
                  <c:v>71</c:v>
                </c:pt>
                <c:pt idx="2">
                  <c:v>74</c:v>
                </c:pt>
                <c:pt idx="3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73</c:v>
                </c:pt>
                <c:pt idx="2">
                  <c:v>86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70</c:v>
                </c:pt>
                <c:pt idx="2">
                  <c:v>73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74</c:v>
                </c:pt>
                <c:pt idx="2">
                  <c:v>79</c:v>
                </c:pt>
                <c:pt idx="3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72</c:v>
                </c:pt>
                <c:pt idx="2">
                  <c:v>85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73</c:v>
                </c:pt>
                <c:pt idx="2">
                  <c:v>85</c:v>
                </c:pt>
                <c:pt idx="3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58</c:v>
                </c:pt>
                <c:pt idx="2">
                  <c:v>78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</c:v>
                </c:pt>
                <c:pt idx="1">
                  <c:v>63</c:v>
                </c:pt>
                <c:pt idx="2">
                  <c:v>73</c:v>
                </c:pt>
                <c:pt idx="3">
                  <c:v>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68</c:v>
                </c:pt>
                <c:pt idx="2">
                  <c:v>84</c:v>
                </c:pt>
                <c:pt idx="3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</c:v>
                </c:pt>
                <c:pt idx="1">
                  <c:v>71</c:v>
                </c:pt>
                <c:pt idx="2">
                  <c:v>76</c:v>
                </c:pt>
                <c:pt idx="3">
                  <c:v>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69</c:v>
                </c:pt>
                <c:pt idx="2">
                  <c:v>72</c:v>
                </c:pt>
                <c:pt idx="3">
                  <c:v>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68</c:v>
                </c:pt>
                <c:pt idx="2">
                  <c:v>77</c:v>
                </c:pt>
                <c:pt idx="3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</c:v>
                </c:pt>
                <c:pt idx="1">
                  <c:v>58</c:v>
                </c:pt>
                <c:pt idx="2">
                  <c:v>76</c:v>
                </c:pt>
                <c:pt idx="3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</c:v>
                </c:pt>
                <c:pt idx="1">
                  <c:v>64</c:v>
                </c:pt>
                <c:pt idx="2">
                  <c:v>80</c:v>
                </c:pt>
                <c:pt idx="3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70</c:v>
                </c:pt>
                <c:pt idx="2">
                  <c:v>75</c:v>
                </c:pt>
                <c:pt idx="3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65</c:v>
                </c:pt>
                <c:pt idx="2">
                  <c:v>72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</c:v>
                </c:pt>
                <c:pt idx="1">
                  <c:v>68</c:v>
                </c:pt>
                <c:pt idx="2">
                  <c:v>72</c:v>
                </c:pt>
                <c:pt idx="3">
                  <c:v>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73</c:v>
                </c:pt>
                <c:pt idx="2">
                  <c:v>80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60</c:v>
                </c:pt>
                <c:pt idx="2">
                  <c:v>77</c:v>
                </c:pt>
                <c:pt idx="3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61</c:v>
                </c:pt>
                <c:pt idx="2">
                  <c:v>74</c:v>
                </c:pt>
                <c:pt idx="3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</c:v>
                </c:pt>
                <c:pt idx="1">
                  <c:v>59</c:v>
                </c:pt>
                <c:pt idx="2">
                  <c:v>79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</c:v>
                </c:pt>
                <c:pt idx="1">
                  <c:v>64</c:v>
                </c:pt>
                <c:pt idx="2">
                  <c:v>83</c:v>
                </c:pt>
                <c:pt idx="3">
                  <c:v>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</c:v>
                </c:pt>
                <c:pt idx="1">
                  <c:v>68</c:v>
                </c:pt>
                <c:pt idx="2">
                  <c:v>75</c:v>
                </c:pt>
                <c:pt idx="3">
                  <c:v>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09C22"/>
            </a:solidFill>
          </c:spPr>
          <c:dLbls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71</c:v>
                </c:pt>
                <c:pt idx="2">
                  <c:v>77</c:v>
                </c:pt>
                <c:pt idx="3">
                  <c:v>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Decision threshold</c:v>
                </c:pt>
              </c:strCache>
            </c:strRef>
          </c:tx>
          <c:spPr>
            <a:solidFill>
              <a:srgbClr val="F09C22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Attack test</c:v>
                </c:pt>
                <c:pt idx="2">
                  <c:v>Control enabled</c:v>
                </c:pt>
                <c:pt idx="3">
                  <c:v>Verified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5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8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1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3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4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5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6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8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9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0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1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2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3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4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5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6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8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9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0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1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2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3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4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5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6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8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9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0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1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2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3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4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5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6.xml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7.xml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8.xml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9.xml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0.xml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1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2.xml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3.xml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4.xml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5.xml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6.xml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7.xml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8.xml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9.xml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0.xml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1.xml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2.xml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3.xml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4.xml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5.xml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6.xml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ic-01-control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7208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603504" cy="603504"/>
          </a:xfrm>
          <a:prstGeom prst="rect">
            <a:avLst/>
          </a:prstGeom>
        </p:spPr>
      </p:pic>
      <p:pic>
        <p:nvPicPr>
          <p:cNvPr id="6" name="Picture 5" descr="autonomous-agent-security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7088" y="438912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" y="1508760"/>
            <a:ext cx="566928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WSQ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65960"/>
            <a:ext cx="5806440" cy="1874519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3700" b="1">
                <a:solidFill>
                  <a:srgbClr val="0B1F33"/>
                </a:solidFill>
                <a:latin typeface="Aptos"/>
              </a:rPr>
              <a:t>Security Operations for Autonomous AI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133087"/>
            <a:ext cx="5440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52335"/>
                </a:solidFill>
                <a:latin typeface="Aptos"/>
              </a:rPr>
              <a:t>WSQ Course Code: TGS-2024042604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4617720"/>
            <a:ext cx="5440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5B6776"/>
                </a:solidFill>
                <a:latin typeface="Aptos"/>
              </a:rPr>
              <a:t>4 days · 32 hours · Intermediate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230368"/>
            <a:ext cx="5440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Version v1.0 · 12 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5806440"/>
            <a:ext cx="5440680" cy="4389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0">
                <a:solidFill>
                  <a:srgbClr val="5B6776"/>
                </a:solidFill>
                <a:latin typeface="Aptos"/>
              </a:rPr>
              <a:t>Conducted by Tertiary Infotech Academy Pte Ltd · UEN 201200696W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</a:t>
            </a:r>
          </a:p>
        </p:txBody>
      </p:sp>
    </p:spTree>
  </p:cSld>
  <p:transition spd="fast">
    <p:push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ic-01-control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46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80160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47088"/>
            <a:ext cx="5440680" cy="1920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3500" b="1">
                <a:solidFill>
                  <a:srgbClr val="0B1F33"/>
                </a:solidFill>
                <a:latin typeface="Aptos"/>
              </a:rPr>
              <a:t>Welcome and course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257800" cy="11704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5B6776"/>
                </a:solidFill>
                <a:latin typeface="Aptos"/>
              </a:rPr>
              <a:t>Attendance · outcomes · assessment · learner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</a:t>
            </a:r>
          </a:p>
        </p:txBody>
      </p:sp>
    </p:spTree>
  </p:cSld>
  <p:transition spd="fast">
    <p:push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TRAQOM · SSG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Digital attendance (mandatory)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Official course administration 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Scan the trainer-displayed SSG attendance QR code.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PM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Complete the second attendance event after lunch.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Assessment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Record attendance for the assessment session.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Minimum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At least 75% attendance is required.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Confirm the successful attendance screen.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Escalation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Tell the trainer immediately if the scan fails.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5B67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5B6776"/>
                </a:solidFill>
                <a:latin typeface="Aptos"/>
              </a:rPr>
              <a:t>TRAINER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About the trainer — template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5B67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5B67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5B67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5B67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5B6776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Tertiary Infotech trainer profile template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________________________________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Designation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________________________________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Qualifications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________________________________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Industry experience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________________________________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Security expertise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________________________________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Contact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________________________________</a:t>
            </a:r>
          </a:p>
        </p:txBody>
      </p:sp>
      <p:sp>
        <p:nvSpPr>
          <p:cNvPr id="53" name="Oval 52"/>
          <p:cNvSpPr/>
          <p:nvPr/>
        </p:nvSpPr>
        <p:spPr>
          <a:xfrm>
            <a:off x="10826496" y="548640"/>
            <a:ext cx="530352" cy="530352"/>
          </a:xfrm>
          <a:prstGeom prst="ellipse">
            <a:avLst/>
          </a:prstGeom>
          <a:solidFill>
            <a:srgbClr val="5B67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?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TRAINER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About the trainer — Dr Alfred Ang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Tertiary Infotech course administration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Role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Principal Trainer and courseware developer at Tertiary Infotech Academy.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Focus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Applied AI, cybersecurity, software engineering and hands-on technical learning.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Teaching approach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Mechanism-led explanation, reproducible activities and evidence-based verification.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Learner support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Clarification during class and post-course support through the academy.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Course role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Connect security strategy and governance to practical autonomous-agent operations.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Contact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enquiry@tertiaryinfotech.com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LMS / TMS · VISUAL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Download your course material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Tertiary Infotech LMS/TMS workflow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lms-tms.tertiaryinfotech.com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Sign 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 your registered account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Select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Open this course record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Download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Slides, Learner Guide and activities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Check title, code and version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Use only files labelled Security Operations for Autonomous AI Agents · TGS-2024042604.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SECURITY STRATEGY · ICT-SNA-5021-1.1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Skills Framework alignment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Approved course proposal · Skills Framework mapping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K1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Goal setting and objectives of organisation 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K2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Information security and assurance strategy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K3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Best practices in information security policies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K4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Best practices and emerging technologies in security control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K5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Knowledge of security management benchmarks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K6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Gap analysis in organisation security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SECURITY STRATEGY · ICT-SNA-5021-1.1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Skills Framework alignment — implementation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Approved course proposal · Skills Framework mapping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K7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Implications and impact of security gaps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A1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Formulate security goals and objectives from business priorities, security vision, strategy directions and management benchmarks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A2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Establish standards and practices that protect information integrity, authenticity and confidentiality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A3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Manage compliance with information-security guidelines and classification or permission rules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Lead communication of security goals and objectives to the organisation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A5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Review existing security controls against current and future business costs and risks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SECURITY STRATEGY · ICT-SNA-5021-1.1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Skills Framework alignment — strategy and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Approved course proposal and verified legacy assessment mapping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A6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Develop strategies and plans to resolve security gaps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A7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Drive organisation-wide security initiatives in line with internal and external standards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Assessment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WA: K1–K7 · PP: A1–A7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Course evidence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Ten activities produce reproducible control artifacts.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Alignment gate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Nothing assessed is absent from the slides and activities.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Terminology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Every hands-on lab is presented as an Activity.</a:t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WHAT YOU WILL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Learning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Official current course page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LO1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Formulate comprehensive security goals and establish business standards with an overarching security vision for autonomous AI agents.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LO2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Communicate effective agent-security policies and practices, and manage compliance with best practices and technological advancements.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LO3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Evaluate existing agent-security controls against business risks and costs, and develop strategies to resolve identified security gaps.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LO4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Implement organisation-wide agent-security initiatives, assessing and addressing the impact of security gaps.</a:t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FOUR TOPICS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Course outline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Official current course page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Topic 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Security Strategy and Standards for Autonomous AI Agents — Agent inventory · security objectives · identity · tools · data · resilience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Topic 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Agent Security Policies, Governance and Compliance — Policy-as-code · evidence · permissions · assurance · communication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Topic 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AI Agent Risk Assessment and Security Control Evaluation — Threat paths · risk quantification · control effectiveness · remediation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Topic 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Implementing and Monitoring Organisation-Wide Agent Security Operations — Telemetry · detection · incident response · containment · recovery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32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Four-day learning journey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Official course duration and aligned lesson plan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Day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Strategy, inventory, identity and standards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Day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Policy, governance, compliance and communication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Threat modelling, risk and remediation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Day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Monitoring, incident response and assessment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Each day contains 8 scheduled hours excluding lunch; detailed timing is in the Lesson Plan.</a:t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BEFORE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Briefing for assessment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Verified legacy assessment instructions and house standard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Individual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Complete each instrument independently.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Open 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the course slides, Learner Guide and approved materials.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No recording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Do not photograph or copy the assessment scripts.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Submission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Upload the completed documents to the LMS/TMS.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Decision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Results are Competent or Not Yet Competent.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Clarification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Oral clarification may close minor gaps where authorised.</a:t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WA + PRACTICAL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Assessment instruments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Verified legacy assessment papers downloaded from the supplied course Drive folder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WA (SAQ)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7 open-ended questions · K1–K7 · 1 hour.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6 practical tasks · A1–A7 · 3 hours as stated by the verified legacy paper.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Question papers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Learner-facing candidate documents only.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Answer keys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Trainer-only; never attached to GitHub or learner-facing LMS fields.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Alignment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Every WA answer traces to slides; every PP task traces to an activity.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Evidence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Scripts, mock data and generated artifacts support the PP tasks.</a:t>
            </a:r>
          </a:p>
        </p:txBody>
      </p:sp>
    </p:spTree>
  </p:cSld>
  <p:transition spd="fast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WA → PP →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Assessment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WSQ assessment house workflow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17420" y="3090672"/>
            <a:ext cx="237743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7271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TRAQOM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Complete required survey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32503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55163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8780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4035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Attendance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83179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Record assessment attendance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47588" y="3090672"/>
            <a:ext cx="237743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270248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0288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98264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Answer 7 knowledge questions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66267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085332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17970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4204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3348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Complete 6 practical tasks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77755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900415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33054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Submit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28431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Upload to LMS/TMS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715499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24813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4372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Sign-off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3515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Sign Assessment Summary Record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Question papers only are learner-facing; answer keys remain trainer-only.</a:t>
            </a:r>
          </a:p>
        </p:txBody>
      </p:sp>
    </p:spTree>
  </p:cSld>
  <p:transition spd="fast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COURSE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Assessment and funding criteria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Official current course page and WSQ administration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Attendance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At least 75% recorded attendance.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Assessment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Complete both WA and PP.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Competence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Meet every required assessment criterion.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Identity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the registered learner identity.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Retain successful digital-attendance confirmations.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Appeal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Follow the documented appeal process if needed.</a:t>
            </a:r>
          </a:p>
        </p:txBody>
      </p:sp>
    </p:spTree>
  </p:cSld>
  <p:transition spd="fast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OFFLINE · SELF-CONTAINED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environment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package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Python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Python 3.10 or later; standard library only.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VS Code or any text editor.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Synthetic JSON, JSONL and CSV files.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Execution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Run activity.py inside each activity folder.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Generated Markdown, CSV, JSON or HTML outputs.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No live credentials, agents, production systems or external APIs.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EXAM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Practice exam portal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Official current course page practice-exam link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Portal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https://exams.tertiaryinfotech.com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Practice 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untimed practice to identify gaps.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Exam mode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timed mode after completing the activities.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Return to the exact slide/activity mapped to each missed criterion.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Scope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K1–K7 knowledge and A1–A7 practical evidence.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Reminder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The portal supports preparation; the official assessment remains WA + PP.</a:t>
            </a:r>
          </a:p>
        </p:txBody>
      </p:sp>
    </p:spTree>
  </p:cSld>
  <p:transition spd="fast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ic-01-control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46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80160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47088"/>
            <a:ext cx="5440680" cy="1920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3500" b="1">
                <a:solidFill>
                  <a:srgbClr val="0B1F33"/>
                </a:solidFill>
                <a:latin typeface="Aptos"/>
              </a:rPr>
              <a:t>Security Strategy and Standards for Autonomous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257800" cy="11704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5B6776"/>
                </a:solidFill>
                <a:latin typeface="Aptos"/>
              </a:rPr>
              <a:t>Agent inventory · security objectives · identity · tools · data ·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85232"/>
            <a:ext cx="52578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LO1 · K1, K2, A1, A2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19</a:t>
            </a:r>
          </a:p>
        </p:txBody>
      </p:sp>
    </p:spTree>
  </p:cSld>
  <p:transition spd="fast">
    <p:push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TOPIC 01 ·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LO1 and assessment criteria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Approved course proposal criteria adapted to the autonomous-agent context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K1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Goal setting and objectives of organisation 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K2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Information security and assurance strategy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A1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Formulate security goals and objectives from business priorities, security vision, strategy directions and management benchmarks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A2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Establish standards and practices that protect information integrity, authenticity and confidentiality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LO1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LO1: Formulate comprehensive security goals and establish business standards with an overarching security vision for autonomous AI agents.</a:t>
            </a:r>
          </a:p>
        </p:txBody>
      </p:sp>
    </p:spTree>
  </p:cSld>
  <p:transition spd="fast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FIVE-LAYER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Security Strategy and Standards for Autonomous AI Agents: operating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Courseware-build mechanism-level coverage contract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Components, interfaces and ownership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Runtime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States, transitions and decision points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Fields, rules, thresholds and evidence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Failure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Attack path, diagnostic and control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Acceptance test and activity artifact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Every mechanism in this topic is taught through all five layers.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inventory: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Registry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registry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Owner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owner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Runtime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runtime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Tools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Data Stores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data stores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Block deployment unless registry.status=approved and owner is active</a:t>
            </a:r>
          </a:p>
        </p:txBody>
      </p:sp>
    </p:spTree>
  </p:cSld>
  <p:transition spd="fast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inventory: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registry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Block deployment unless registry.status=approved and owner is active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data stores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100% of running agent_id values resolve to one current owner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Unregistered shadow agent reaches a production connector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inventory: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purpose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tools[]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data_classes[]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inventory: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100% of running agent_id values resolve to one current owner.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Business impact mapping: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Business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business service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Agent Task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task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Dependent Process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dependent process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Customer Impact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customer impact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Assign RTO/RPO and a manual fallback before production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Business impact mapping: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business service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Assign RTO/RPO and a manual fallback before production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customer impact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Observed recovery time ≤ approved RTO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outage exceeds the process recovery objective</a:t>
            </a:r>
          </a:p>
        </p:txBody>
      </p:sp>
    </p:spTree>
  </p:cSld>
  <p:transition spd="fast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Business impact mapping: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service_id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process_rto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data_rpo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maximum_loss_sgd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criticality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Business impact mapping: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Observed recovery time ≤ approved RTO.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Security objective hierarchy: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vision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Business Objective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business objective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Security Goal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security goal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Control Objective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control objective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Metric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metric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Write SMART control objectives with a named evidence source</a:t>
            </a:r>
          </a:p>
        </p:txBody>
      </p:sp>
    </p:spTree>
  </p:cSld>
  <p:transition spd="fast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Security objective hierarchy: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vision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Write SMART control objectives with a named evidence source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metric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Every objective has one owner, threshold and review date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 vague goal cannot be tested or owned</a:t>
            </a:r>
          </a:p>
        </p:txBody>
      </p:sp>
    </p:spTree>
  </p:cSld>
  <p:transition spd="fast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Security objective hierarchy: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objective_id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sponsor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threshold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due_date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evidence_source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Security objective hierarchy: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Every objective has one owner, threshold and review date.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 classification: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Input Sources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input sources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Classifier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classifier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Labelled Context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labelled context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Tool Output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output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Retention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retention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Enforce label-aware routing, redaction and retention</a:t>
            </a:r>
          </a:p>
        </p:txBody>
      </p:sp>
    </p:spTree>
  </p:cSld>
  <p:transition spd="fast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 classification: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input sources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Enforce label-aware routing, redaction and retention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retention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0 restricted records leave an approved processing boundary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Restricted data is inserted into an unapproved prompt</a:t>
            </a:r>
          </a:p>
        </p:txBody>
      </p:sp>
    </p:spTree>
  </p:cSld>
  <p:transition spd="fast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 classification: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data_class ∈ {public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internal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confidential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restricted}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purpose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retention_days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 classification: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0 restricted records leave an approved processing boundary.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Trust-boundary map: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User Zone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user zone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Agent Runtime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runtime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Policy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policy gateway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Tool Zone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zone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External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external service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Place authentication, authorisation and logging at every crossing</a:t>
            </a:r>
          </a:p>
        </p:txBody>
      </p:sp>
    </p:spTree>
  </p:cSld>
  <p:transition spd="fast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Trust-boundary map: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user zone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Place authentication, authorisation and logging at every crossing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external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Each cross-zone flow maps to a tested control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 tool call crosses a boundary without an enforcement point</a:t>
            </a:r>
          </a:p>
        </p:txBody>
      </p:sp>
    </p:spTree>
  </p:cSld>
  <p:transition spd="fast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Trust-boundary map: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boundary_id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source_zone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target_zone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protocol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authn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authz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Trust-boundary map: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Each cross-zone flow maps to a tested control.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Workload identity: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Orchestrator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orchestrator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Identity Provider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identity provider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Short-Lived Token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short-lived token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Resource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resource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Issue a unique workload identity and scoped token per agent</a:t>
            </a:r>
          </a:p>
        </p:txBody>
      </p:sp>
    </p:spTree>
  </p:cSld>
  <p:transition spd="fast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Workload identity: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orchestrator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Issue a unique workload identity and scoped token per agent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resource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Token subject uniquely identifies the calling agent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Several agents share one service-account credential</a:t>
            </a:r>
          </a:p>
        </p:txBody>
      </p:sp>
    </p:spTree>
  </p:cSld>
  <p:transition spd="fast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Workload identity: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subject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audience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tool_id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ttl_seconds≤900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scopes[]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Workload identity: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Token subject uniquely identifies the calling agent.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Credential lifecycle: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Vault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vault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Broker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broker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Ephemeral Session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ephemeral session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Tool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Revocation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revocation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Use vault references and just-in-time retrieval outside model context</a:t>
            </a:r>
          </a:p>
        </p:txBody>
      </p:sp>
    </p:spTree>
  </p:cSld>
  <p:transition spd="fast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Credential lifecycle: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vault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 vault references and just-in-time retrieval outside model context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revocation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Secret scan=0 and rotation age≤policy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 credential appears in prompt context or source code</a:t>
            </a:r>
          </a:p>
        </p:txBody>
      </p:sp>
    </p:spTree>
  </p:cSld>
  <p:transition spd="fast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Credential lifecycle: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secret_ref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version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issued_at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expires_at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rotation_days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last_access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Credential lifecycle: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Secret scan=0 and rotation age≤policy.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registry: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Tool Package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package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Provenance 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provenance check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Capability Record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capability record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Approval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approval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Runtime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runtime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Verify hash and capability manifest before registration</a:t>
            </a:r>
          </a:p>
        </p:txBody>
      </p:sp>
    </p:spTree>
  </p:cSld>
  <p:transition spd="fast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registry: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tool package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Verify hash and capability manifest before registration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runtime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Runtime hash equals approved registry hash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 renamed tool adds an undeclared destructive capability</a:t>
            </a:r>
          </a:p>
        </p:txBody>
      </p:sp>
    </p:spTree>
  </p:cSld>
  <p:transition spd="fast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registry: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tool_id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version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publisher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hash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capabilities[]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risk_tier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registry: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Runtime hash equals approved registry hash.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allowlist: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Planner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planner proposal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Policy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policy decision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Argument Validation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argument validation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Tool Execution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execution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Deny by default; match identity, action and resource</a:t>
            </a:r>
          </a:p>
        </p:txBody>
      </p:sp>
    </p:spTree>
  </p:cSld>
  <p:transition spd="fast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allowlist: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planner proposal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Deny by default; match identity, action and resource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tool execution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Unauthorised test calls are denied and logged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Model selects a valid but unauthorised administrative tool</a:t>
            </a:r>
          </a:p>
        </p:txBody>
      </p:sp>
    </p:spTree>
  </p:cSld>
  <p:transition spd="fast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allowlist: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tool_id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resource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policy_version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allowlist: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Unauthorised test calls are denied and logged.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Approval taxonomy: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Action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action proposal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Risk Classifier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risk classifier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Approver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approver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Signed Decision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signed decision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Execution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execution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Require signed, time-bound approval for irreversible actions</a:t>
            </a:r>
          </a:p>
        </p:txBody>
      </p:sp>
    </p:spTree>
  </p:cSld>
  <p:transition spd="fast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Approval taxonomy: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action proposal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 signed, time-bound approval for irreversible actions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execution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100% tier-3 executions carry a valid approval_id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High-impact action runs without human confirmation</a:t>
            </a:r>
          </a:p>
        </p:txBody>
      </p:sp>
    </p:spTree>
  </p:cSld>
  <p:transition spd="fast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Approval taxonomy: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risk_tier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approval_required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approver_role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timeout_seconds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reason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Approval taxonomy: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100% tier-3 executions carry a valid approval_id.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Memory isolation: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Session Memory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session memory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Tenant Partition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tenant partition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Encrypted Store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encrypted store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Retrieval Filter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retrieval filter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Partition by tenant and session; filter before retrieval</a:t>
            </a:r>
          </a:p>
        </p:txBody>
      </p:sp>
    </p:spTree>
  </p:cSld>
  <p:transition spd="fast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Memory isolation: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session memory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Partition by tenant and session; filter before retrieval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retrieval filter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Cross-tenant retrieval test returns zero records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One tenant retrieves another tenant's memory</a:t>
            </a:r>
          </a:p>
        </p:txBody>
      </p:sp>
    </p:spTree>
  </p:cSld>
  <p:transition spd="fast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Memory isolation: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tenant_id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session_id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namespace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expires_at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Memory isolation: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Cross-tenant retrieval test returns zero records.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lifetime: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Login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login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Session Token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session token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Agent Loop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loop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Idle Timer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idle timer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Termination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termination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Cap age, idle time and maximum autonomous steps</a:t>
            </a:r>
          </a:p>
        </p:txBody>
      </p:sp>
    </p:spTree>
  </p:cSld>
  <p:transition spd="fast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lifetime: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login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Cap age, idle time and maximum autonomous steps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termination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Expired sessions reject the next tool call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 forgotten session remains capable overnight</a:t>
            </a:r>
          </a:p>
        </p:txBody>
      </p:sp>
    </p:spTree>
  </p:cSld>
  <p:transition spd="fast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lifetime: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session_id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created_at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last_active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max_age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idle_timeout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step_count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lifetime: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Expired sessions reject the next tool call.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Egress control: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Agent Sandbox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sandbox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Dns Proxy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DNS proxy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Http Proxy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HTTP proxy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Destination Allowlist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destination allowlist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Internet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internet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Deny unknown destinations and inspect outbound payload metadata</a:t>
            </a:r>
          </a:p>
        </p:txBody>
      </p:sp>
    </p:spTree>
  </p:cSld>
  <p:transition spd="fast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Egress control: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agent sandbox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Deny unknown destinations and inspect outbound payload metadata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internet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Blocked egress increments alert and transfers zero bytes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sends confidential content to an attacker domain</a:t>
            </a:r>
          </a:p>
        </p:txBody>
      </p:sp>
    </p:spTree>
  </p:cSld>
  <p:transition spd="fast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Egress control: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destination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method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bytes_out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data_class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Egress control: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Blocked egress increments alert and transfers zero bytes.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Sandbox profile: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Agent Process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process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Namespace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namespace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Filesystem Mount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filesystem mount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Network Policy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network policy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Resource Quota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resource quota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Run non-root with read-only root and restricted syscalls</a:t>
            </a:r>
          </a:p>
        </p:txBody>
      </p:sp>
    </p:spTree>
  </p:cSld>
  <p:transition spd="fast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Sandbox profile: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agent process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Run non-root with read-only root and restricted syscalls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resource quota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Escape tests fail; quota breach terminates only the sandbox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Generated code writes outside its workspace or escapes to host</a:t>
            </a:r>
          </a:p>
        </p:txBody>
      </p:sp>
    </p:spTree>
  </p:cSld>
  <p:transition spd="fast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Sandbox profile: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image_digest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uid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readonly_root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cpu_limit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memory_mb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network_profile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Sandbox profile: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Escape tests fail; quota breach terminates only the sandbox.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Artifact provenance: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source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Signer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signer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Build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build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Attestation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attestation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Deployment Verifier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deployment verifier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Require signed provenance tied to source and builder</a:t>
            </a:r>
          </a:p>
        </p:txBody>
      </p:sp>
    </p:spTree>
  </p:cSld>
  <p:transition spd="fast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Artifact provenance: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source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 signed provenance tied to source and builder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deployment verifier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Deploy verifier rejects missing or mismatched attestations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An unsigned prompt/tool bundle reaches production</a:t>
            </a:r>
          </a:p>
        </p:txBody>
      </p:sp>
    </p:spTree>
  </p:cSld>
  <p:transition spd="fast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Artifact provenance: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artifact_digest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source_commit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builder_id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signature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predicate_type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Artifact provenance: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Deploy verifier rejects missing or mismatched attestations.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AI bill of materials: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17420" y="3090672"/>
            <a:ext cx="237743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7271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model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32503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55163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87801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4035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Prompt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83179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prompt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47588" y="3090672"/>
            <a:ext cx="237743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270248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0288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98264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662672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085332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17970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4204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Libraries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3348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libraries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77755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900415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33054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Datasets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28431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datasets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715499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24813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4372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External Apis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3515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external APIs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Maintain an AI BOM and rescan on every release</a:t>
            </a:r>
          </a:p>
        </p:txBody>
      </p:sp>
    </p:spTree>
  </p:cSld>
  <p:transition spd="fast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AI bill of materials: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model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Maintain an AI BOM and rescan on every release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external APIs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All deployed components have versions and scan timestamps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Vulnerable dependency or changed model is invisible</a:t>
            </a:r>
          </a:p>
        </p:txBody>
      </p:sp>
    </p:spTree>
  </p:cSld>
  <p:transition spd="fast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AI bill of materials: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component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supplier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version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licence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hash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vulnerability_status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AI bill of materials: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All deployed components have versions and scan timestamps.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Supplier assurance: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Provider Questionnaire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provider questionnaire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Evidence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evidence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Contract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contract controls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Monitoring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monitoring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Contract for notification, data handling, logs and exit</a:t>
            </a:r>
          </a:p>
        </p:txBody>
      </p:sp>
    </p:spTree>
  </p:cSld>
  <p:transition spd="fast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Supplier assurance: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provider questionnaire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Contract for notification, data handling, logs and exit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monitoring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Quarterly review closes high-risk findings by due date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External model provider changes retention or subprocessor terms</a:t>
            </a:r>
          </a:p>
        </p:txBody>
      </p:sp>
    </p:spTree>
  </p:cSld>
  <p:transition spd="fast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Supplier assurance: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supplier_id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service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data_region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subprocessors[]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SLA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exit_plan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Supplier assurance: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Quarterly review closes high-risk findings by due date.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Risk appetite: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Risk 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risk scenario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Inherent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inherent score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Appetite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appetite threshold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Response Decision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response decision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Escalate residual_score&gt;appetite to the risk owner</a:t>
            </a:r>
          </a:p>
        </p:txBody>
      </p:sp>
    </p:spTree>
  </p:cSld>
  <p:transition spd="fast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Risk appetite: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risk scenario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Escalate residual_score&gt;appetite to the risk owner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response decision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No above-appetite risk lacks a signed treatment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Teams accept high residual risk without authority</a:t>
            </a:r>
          </a:p>
        </p:txBody>
      </p:sp>
    </p:spTree>
  </p:cSld>
  <p:transition spd="fast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Risk appetite: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likelihood_1_5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impact_1_5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inherent_score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appetite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treatment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Risk appetite: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No above-appetite risk lacks a signed treatment.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Confidentiality objective: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Sensitive 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sensitive source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Authorised 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authorised context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Controlled Output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controlled output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Recipient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recipient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Apply semantic DLP plus recipient and purpose checks</a:t>
            </a:r>
          </a:p>
        </p:txBody>
      </p:sp>
    </p:spTree>
  </p:cSld>
  <p:transition spd="fast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Confidentiality objective: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sensitive source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Apply semantic DLP plus recipient and purpose checks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recipient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Leak test score stays below the approved threshold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paraphrases sensitive content into an allowed channel</a:t>
            </a:r>
          </a:p>
        </p:txBody>
      </p:sp>
    </p:spTree>
  </p:cSld>
  <p:transition spd="fast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Confidentiality objective: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authorised_purposes[]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recipient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redactions[]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leak_score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Confidentiality objective: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Leak test score stays below the approved threshold.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Integrity objective: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Trusted Instruction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trusted instruction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Planner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planner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Tool Arguments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arguments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State Change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state change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Verification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verification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Bind approved intent to arguments and verify post-condition</a:t>
            </a:r>
          </a:p>
        </p:txBody>
      </p:sp>
    </p:spTree>
  </p:cSld>
  <p:transition spd="fast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Integrity objective: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trusted instruction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Bind approved intent to arguments and verify post-condition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verification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Approved and executed argument hashes match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Prompt injection changes the intended transaction parameters</a:t>
            </a:r>
          </a:p>
        </p:txBody>
      </p:sp>
    </p:spTree>
  </p:cSld>
  <p:transition spd="fast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Integrity objective: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request_hash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policy_hash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argument_hash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result_hash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actor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Integrity objective: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Approved and executed argument hashes match.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Authenticity objective: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Human Or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human or service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Identity 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identity proof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Signed Instruction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signed instruction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Verify issuer, audience, nonce and signature before planning</a:t>
            </a:r>
          </a:p>
        </p:txBody>
      </p:sp>
    </p:spTree>
  </p:cSld>
  <p:transition spd="fast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Authenticity objective: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human or service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Verify issuer, audience, nonce and signature before planning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agent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Replay and wrong-audience tests are rejected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Spoofed upstream service injects a privileged request</a:t>
            </a:r>
          </a:p>
        </p:txBody>
      </p:sp>
    </p:spTree>
  </p:cSld>
  <p:transition spd="fast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Authenticity objective: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issuer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subject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audience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issued_at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nonce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signature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Authenticity objective: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Replay and wrong-audience tests are rejected.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Availability objective: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Request Queue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request queue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Agent Workers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workers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Model Endpoint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model endpoint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Tools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Fallback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fallback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Use bounded retries, bulkheads and circuit breakers</a:t>
            </a:r>
          </a:p>
        </p:txBody>
      </p:sp>
    </p:spTree>
  </p:cSld>
  <p:transition spd="fast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Availability objective: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request queue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 bounded retries, bulkheads and circuit breakers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fallback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Error budget and queue latency remain inside SLO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Retry storm exhausts model and tool quotas</a:t>
            </a:r>
          </a:p>
        </p:txBody>
      </p:sp>
    </p:spTree>
  </p:cSld>
  <p:transition spd="fast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Availability objective: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queue_depth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concurrency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timeout_ms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retry_budget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circuit_state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Availability objective: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Error budget and queue latency remain inside SLO.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Auditability objective: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User 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user request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Agent Decisions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decisions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Tool Calls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calls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outputs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Immutable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immutable log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Correlate decision and execution events under one trace_id</a:t>
            </a:r>
          </a:p>
        </p:txBody>
      </p:sp>
    </p:spTree>
  </p:cSld>
  <p:transition spd="fast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Auditability objective: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user request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Correlate decision and execution events under one trace_id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immutable log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Random sample replays reproduce the ordered action chain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Incident team cannot reconstruct why a tool ran</a:t>
            </a:r>
          </a:p>
        </p:txBody>
      </p:sp>
    </p:spTree>
  </p:cSld>
  <p:transition spd="fast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Auditability objective: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trace_id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parent_span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actor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resource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Auditability objective: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Random sample replays reproduce the ordered action chain.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Kill-switch baseline: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Soc Command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SOC command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Control Plane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control plane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Token Revoke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token revoke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Queue Drain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queue drain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Agent Stop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stop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Implement tested global and per-agent stop paths</a:t>
            </a:r>
          </a:p>
        </p:txBody>
      </p:sp>
    </p:spTree>
  </p:cSld>
  <p:transition spd="fast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Kill-switch baseline: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SOC command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Implement tested global and per-agent stop paths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agent stop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P95 containment time meets the defined target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continues acting after a critical alert</a:t>
            </a:r>
          </a:p>
        </p:txBody>
      </p:sp>
    </p:spTree>
  </p:cSld>
  <p:transition spd="fast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Kill-switch baseline: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scope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initiated_by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reason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effective_at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confirmation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Kill-switch baseline: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P95 containment time meets the defined target.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A1 · 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01 — Build an Agent Inventory and Security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folder and synthetic mock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synthetic data in activity-01-agent-inventory to make a security-operations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mock_agents.json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Runnable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activity.py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Output artifact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agent_security_baseline.md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Acceptance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All active agents have an owner, purpose, data class, risk tier and measurable security objective.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 boundary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Offline simulation only; no live credentials, systems or external services.</a:t>
            </a:r>
          </a:p>
        </p:txBody>
      </p:sp>
    </p:spTree>
  </p:cSld>
  <p:transition spd="fast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A1 · PRACTICE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01: mechanism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design; complete procedure is in the Learner Guide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mock_agents.json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required fields and types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and decision rules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Produce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agent_security_baseline.md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All active agents have an owner, purpose, data class, risk tier and measurable security objective.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The PPT shows the mechanism and evidence path; the click-by-click procedure remains in the Learner Guide.</a:t>
            </a:r>
          </a:p>
        </p:txBody>
      </p:sp>
    </p:spTree>
  </p:cSld>
  <p:transition spd="fast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A1 ·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01: evidence artifact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files in labs/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Concrete artifact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Verification purpose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mock_agents.json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Synthetic source supplied in the activity folder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Processor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activity.py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Python 3 standard library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agent_security_baseline.md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Generated locally and reproducible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Maps directly to the practical assessment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PASS or treatment 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Must reconcile with mock values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Cleanup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Delete agent_security_baseline.md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Retain script and mock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A1 · 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02 — Threat-Model Agent Trust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folder and synthetic mock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synthetic data in activity-02-trust-boundary-threat-model to make a security-operations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mock_dataflows.json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Runnable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activity.py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Output artifact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threat_model.json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Acceptance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Every cross-zone flow has authentication, authorisation, encryption and logging controls.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 boundary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Offline simulation only; no live credentials, systems or external services.</a:t>
            </a:r>
          </a:p>
        </p:txBody>
      </p:sp>
    </p:spTree>
  </p:cSld>
  <p:transition spd="fast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A1 · PRACTICE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02: mechanism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design; complete procedure is in the Learner Guide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mock_dataflows.json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required fields and types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and decision rules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Produce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threat_model.json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Every cross-zone flow has authentication, authorisation, encryption and logging controls.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The PPT shows the mechanism and evidence path; the click-by-click procedure remains in the Learner Guide.</a:t>
            </a:r>
          </a:p>
        </p:txBody>
      </p:sp>
    </p:spTree>
  </p:cSld>
  <p:transition spd="fast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A1 ·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02: evidence artifact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files in labs/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Concrete artifact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Verification purpose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mock_dataflows.json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Synthetic source supplied in the activity folder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Processor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activity.py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Python 3 standard library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threat_model.json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Generated locally and reproducible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Maps directly to the practical assessment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PASS or treatment 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Must reconcile with mock values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Cleanup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Delete threat_model.json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Retain script and mock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A2, A3 · 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03 — Enforce Tool and Data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folder and synthetic mock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synthetic data in activity-03-policy-as-code to make a security-operations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mock_requests.json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Runnable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activity.py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Output artifact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policy_decisions.csv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Acceptance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Allowed requests execute; restricted data, unlisted tools and missing approvals are denied with reasons.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 boundary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Offline simulation only; no live credentials, systems or external services.</a:t>
            </a:r>
          </a:p>
        </p:txBody>
      </p:sp>
    </p:spTree>
  </p:cSld>
  <p:transition spd="fast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A2, A3 · PRACTICE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03: mechanism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design; complete procedure is in the Learner Guide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mock_requests.json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required fields and types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and decision rules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89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Produce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policy_decisions.csv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898B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Allowed requests execute; restricted data, unlisted tools and missing approvals are denied with reasons.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The PPT shows the mechanism and evidence path; the click-by-click procedure remains in the Learner Guide.</a:t>
            </a:r>
          </a:p>
        </p:txBody>
      </p:sp>
    </p:spTree>
  </p:cSld>
  <p:transition spd="fast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A2, A3 ·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03: evidence artifact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files in labs/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Concrete artifact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Verification purpose</a:t>
                      </a:r>
                    </a:p>
                  </a:txBody>
                  <a:tcPr marL="91440" marR="91440" marT="45720" marB="45720">
                    <a:solidFill>
                      <a:srgbClr val="00898B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mock_requests.json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Synthetic source supplied in the activity folder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Processor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activity.py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Python 3 standard library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policy_decisions.csv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Generated locally and reproducible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A2, A3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Maps directly to the practical assessment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PASS or treatment 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Must reconcile with mock values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Cleanup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Delete policy_decisions.csv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Retain script and mock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LO1 · K1, K2, A1,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Topic 01 technical recap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127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Topic technical-anchor inventory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Confidentiality objective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Leak test score stays below the approved threshold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Integrity objective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Approved and executed argument hashes match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Authenticity objective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Replay and wrong-audience tests are rejected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Availability objective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Error budget and queue latency remain inside SLO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Auditability objective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Random sample replays reproduce the ordered action chain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Kill-switch 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P95 containment time meets the defined target</a:t>
            </a:r>
          </a:p>
        </p:txBody>
      </p:sp>
    </p:spTree>
  </p:cSld>
  <p:transition spd="fast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ic-02-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46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80160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47088"/>
            <a:ext cx="5440680" cy="1920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3500" b="1">
                <a:solidFill>
                  <a:srgbClr val="0B1F33"/>
                </a:solidFill>
                <a:latin typeface="Aptos"/>
              </a:rPr>
              <a:t>Agent Security Policies, Governance and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257800" cy="11704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5B6776"/>
                </a:solidFill>
                <a:latin typeface="Aptos"/>
              </a:rPr>
              <a:t>Policy-as-code · evidence · permissions · assurance · 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85232"/>
            <a:ext cx="52578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LO2 · K3, K4, A3, A4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128</a:t>
            </a:r>
          </a:p>
        </p:txBody>
      </p:sp>
    </p:spTree>
  </p:cSld>
  <p:transition spd="fast">
    <p:push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TOPIC 02 ·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LO2 and assessment criteria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Approved course proposal criteria adapted to the autonomous-agent context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K3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Best practices in information security policies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K4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Best practices and emerging technologies in security control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A3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Manage compliance with information-security guidelines and classification or permission rules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A4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Lead communication of security goals and objectives to the organisation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LO2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LO2: Communicate effective agent-security policies and practices, and manage compliance with best practices and technological advancements.</a:t>
            </a:r>
          </a:p>
        </p:txBody>
      </p:sp>
    </p:spTree>
  </p:cSld>
  <p:transition spd="fast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FIVE-LAYER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Security Policies, Governance and Compliance: operating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Courseware-build mechanism-level coverage contract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Components, interfaces and ownership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Runtime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States, transitions and decision points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Fields, rules, thresholds and evidence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Failure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Attack path, diagnostic and control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Acceptance test and activity artifact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Every mechanism in this topic is taught through all five layers.</a:t>
            </a:r>
          </a:p>
        </p:txBody>
      </p:sp>
    </p:spTree>
  </p:cSld>
  <p:transition spd="fast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Policy hierarchy: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Board Principles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board principles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Enterprise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enterprise standard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Agent Policy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policy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Runtime Rule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runtime rule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Trace every executable rule to an approved parent policy</a:t>
            </a:r>
          </a:p>
        </p:txBody>
      </p:sp>
    </p:spTree>
  </p:cSld>
  <p:transition spd="fast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Policy hierarchy: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board principles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 every executable rule to an approved parent policy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runtime rule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No active rule has an orphaned parent_id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Runtime rules contradict enterprise requirements</a:t>
            </a:r>
          </a:p>
        </p:txBody>
      </p:sp>
    </p:spTree>
  </p:cSld>
  <p:transition spd="fast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Policy hierarchy: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policy_id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parent_id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scope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version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effective_date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Policy hierarchy: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No active rule has an orphaned parent_id.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Policy-as-code: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Repository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repository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Test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test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Signed Bundle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signed bundle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Policy Decision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policy decision point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Version, test and sign machine-enforced policy bundles</a:t>
            </a:r>
          </a:p>
        </p:txBody>
      </p:sp>
    </p:spTree>
  </p:cSld>
  <p:transition spd="fast">
    <p:fade/>
  </p:transition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Policy-as-code: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repository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Version, test and sign machine-enforced policy bundles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policy decision point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Policy tests pass and deployed hash matches release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Manual configuration drifts from approved policy</a:t>
            </a:r>
          </a:p>
        </p:txBody>
      </p:sp>
    </p:spTree>
  </p:cSld>
  <p:transition spd="fast">
    <p:fade/>
  </p:transition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Policy-as-code: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rule_id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input_schema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effect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conditions[]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tests[]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bundle_hash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Policy-as-code: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Policy tests pass and deployed hash matches release.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Governance RACI: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17420" y="3090672"/>
            <a:ext cx="237743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7271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board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32503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55163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8780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4035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Risk Owner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83179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risk owner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47588" y="3090672"/>
            <a:ext cx="237743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270248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0288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Product 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98264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product owner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66267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085332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17970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4204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Security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3348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security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77755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900415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33054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Operations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28431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operations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715499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24813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4372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Audit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3515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audit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Assign one accountable role per lifecycle decision</a:t>
            </a:r>
          </a:p>
        </p:txBody>
      </p:sp>
    </p:spTree>
  </p:cSld>
  <p:transition spd="fast">
    <p:fade/>
  </p:transition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Governance RACI: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board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Assign one accountable role per lifecycle decision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audit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Every critical decision has exactly one accountable owner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Two teams assume the other owns a risky agent</a:t>
            </a:r>
          </a:p>
        </p:txBody>
      </p:sp>
    </p:spTree>
  </p:cSld>
  <p:transition spd="fast">
    <p:fade/>
  </p:transition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Governance RACI: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accountable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responsible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consulted[]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informed[]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Governance RACI: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Every critical decision has exactly one accountable owner.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Information handling rules: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Classification Label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classification label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Permitted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permitted model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Permitted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permitted tools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Output Channel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output channel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Enforce processor and channel restrictions by label</a:t>
            </a:r>
          </a:p>
        </p:txBody>
      </p:sp>
    </p:spTree>
  </p:cSld>
  <p:transition spd="fast">
    <p:fade/>
  </p:transition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Information handling rules: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classification label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Enforce processor and channel restrictions by label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output channel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Restricted-label policy tests deny unapproved processors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Restricted records flow to a consumer-grade model endpoint</a:t>
            </a:r>
          </a:p>
        </p:txBody>
      </p:sp>
    </p:spTree>
  </p:cSld>
  <p:transition spd="fast">
    <p:fade/>
  </p:transition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Information handling rules: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class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allowed_processors[]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allowed_actions[]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retention_days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Information handling rules: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Restricted-label policy tests deny unapproved processors.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Permission recertification: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Entitlement Inventory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entitlement inventory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Owner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owner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Revoke/Retain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revoke/retain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Review high-risk permissions at least quarterly</a:t>
            </a:r>
          </a:p>
        </p:txBody>
      </p:sp>
    </p:spTree>
  </p:cSld>
  <p:transition spd="fast">
    <p:fade/>
  </p:transition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Permission recertification: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entitlement inventory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Review high-risk permissions at least quarterly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evidence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Unused privileged permissions are revoked within SLA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Dormant high-privilege tool scopes remain active</a:t>
            </a:r>
          </a:p>
        </p:txBody>
      </p:sp>
    </p:spTree>
  </p:cSld>
  <p:transition spd="fast">
    <p:fade/>
  </p:transition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Permission recertification: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principal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permission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resource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last_used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reviewer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Permission recertification: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Unused privileged permissions are revoked within SLA.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Control ownership: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Control Objective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control objective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Control Operator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control operator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Evidence Producer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evidence producer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Risk Owner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risk owner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Bind control frequency and evidence to named roles</a:t>
            </a:r>
          </a:p>
        </p:txBody>
      </p:sp>
    </p:spTree>
  </p:cSld>
  <p:transition spd="fast">
    <p:fade/>
  </p:transition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Control ownership: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objective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Bind control frequency and evidence to named roles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risk owner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Missed control runs create owner alerts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 control exists on paper but nobody operates it</a:t>
            </a:r>
          </a:p>
        </p:txBody>
      </p:sp>
    </p:spTree>
  </p:cSld>
  <p:transition spd="fast">
    <p:fade/>
  </p:transition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Control ownership: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control_id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operator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frequency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exception_route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Control ownership: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Missed control runs create owner alerts.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Evidence retention: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Event 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event source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Normaliser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normaliser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Immutable Store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immutable store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Legal Hold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legal hold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Disposal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disposal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Apply record-specific retention and defensible disposal</a:t>
            </a:r>
          </a:p>
        </p:txBody>
      </p:sp>
    </p:spTree>
  </p:cSld>
  <p:transition spd="fast">
    <p:fade/>
  </p:transition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Evidence retention: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event source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Apply record-specific retention and defensible disposal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disposal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Retention and disposal jobs produce signed reports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Evidence is deleted before an investigation or kept indefinitely</a:t>
            </a:r>
          </a:p>
        </p:txBody>
      </p:sp>
    </p:spTree>
  </p:cSld>
  <p:transition spd="fast">
    <p:fade/>
  </p:transition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Evidence retention: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record_type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retention_days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legal_hold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hash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disposal_date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Evidence retention: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158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Retention and disposal jobs produce signed reports.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Audit event schema: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Agent Runtime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runtime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Gateway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gateway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Normaliser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normaliser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Evidence Lake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evidence lake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Adopt required correlation and identity fields</a:t>
            </a:r>
          </a:p>
        </p:txBody>
      </p:sp>
    </p:spTree>
  </p:cSld>
  <p:transition spd="fast">
    <p:fade/>
  </p:transition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Audit event schema: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agent runtime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Adopt required correlation and identity fields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evidence lake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Schema conformance ≥99.5% for critical events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Logs cannot be joined across components</a:t>
            </a:r>
          </a:p>
        </p:txBody>
      </p:sp>
    </p:spTree>
  </p:cSld>
  <p:transition spd="fast">
    <p:fade/>
  </p:transition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Audit event schema: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161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event_time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trace_id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tool_id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Audit event schema: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Schema conformance ≥99.5% for critical events.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Privacy minimisation: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Data 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data source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Field Allowlist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field allowlist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Redaction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redaction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Model Context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model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output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Minimise to purpose-required fields before context assembly</a:t>
            </a:r>
          </a:p>
        </p:txBody>
      </p:sp>
    </p:spTree>
  </p:cSld>
  <p:transition spd="fast">
    <p:fade/>
  </p:transition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Privacy minimisation: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data source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Minimise to purpose-required fields before context assembly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output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Approved field allowlist matches observed prompt fields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Entire customer record is sent for a narrow task</a:t>
            </a:r>
          </a:p>
        </p:txBody>
      </p:sp>
    </p:spTree>
  </p:cSld>
  <p:transition spd="fast">
    <p:fade/>
  </p:transition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Privacy minimisation: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purpose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necessity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transformation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retention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Privacy minimisation: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Approved field allowlist matches observed prompt fields.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Purpose limitation: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Request Purpose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request purpose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Authorised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authorised use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Tool Access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access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Bind data and tool permissions to a declared purpose</a:t>
            </a:r>
          </a:p>
        </p:txBody>
      </p:sp>
    </p:spTree>
  </p:cSld>
  <p:transition spd="fast">
    <p:fade/>
  </p:transition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Purpose limitation: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request purpose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Bind data and tool permissions to a declared purpose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evidence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Mismatched purpose_id causes a deny decision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reuses data for an unrelated task</a:t>
            </a:r>
          </a:p>
        </p:txBody>
      </p:sp>
    </p:spTree>
  </p:cSld>
  <p:transition spd="fast">
    <p:fade/>
  </p:transition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Purpose limitation: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purpose_id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lawful_basis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allowed_data[]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allowed_actions[]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expiry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Purpose limitation: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Mismatched purpose_id causes a deny decision.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Change management: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Change 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change request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Impact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impact analysis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Approval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approval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Canary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canary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Rollback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rollback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Treat prompts, policies and tools as controlled changes</a:t>
            </a:r>
          </a:p>
        </p:txBody>
      </p:sp>
    </p:spTree>
  </p:cSld>
  <p:transition spd="fast">
    <p:fade/>
  </p:transition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Change management: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change request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Treat prompts, policies and tools as controlled changes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rollback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Every production diff maps to a change_id and test run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Prompt or tool change silently expands agency</a:t>
            </a:r>
          </a:p>
        </p:txBody>
      </p:sp>
    </p:spTree>
  </p:cSld>
  <p:transition spd="fast">
    <p:fade/>
  </p:transition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Change management: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change_id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components[]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tests[]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approver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rollback_ref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Change management: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Every production diff maps to a change_id and test run.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Release gate: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Source Commit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source commit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tests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Red-Team Suite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red-team suite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Policy Checks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policy checks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Deploy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deploy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Block on critical failures or missing evidence</a:t>
            </a:r>
          </a:p>
        </p:txBody>
      </p:sp>
    </p:spTree>
  </p:cSld>
  <p:transition spd="fast">
    <p:fade/>
  </p:transition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Release gate: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source commit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Block on critical failures or missing evidence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deploy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Gate records show zero waived critical failures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Known prompt-injection failure ships to production</a:t>
            </a:r>
          </a:p>
        </p:txBody>
      </p:sp>
    </p:spTree>
  </p:cSld>
  <p:transition spd="fast">
    <p:fade/>
  </p:transition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Release gate: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commit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test_pass_rate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critical_failures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signer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release_decision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Release gate: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Gate records show zero waived critical failures.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Red-team acceptance: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Attack Catalogue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attack catalogue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Test Harness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test harness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Agent Under Test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under test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Findings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findings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Fix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fix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Maintain regression tests for direct and indirect injection</a:t>
            </a:r>
          </a:p>
        </p:txBody>
      </p:sp>
    </p:spTree>
  </p:cSld>
  <p:transition spd="fast">
    <p:fade/>
  </p:transition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Red-team acceptance: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attack catalogue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Maintain regression tests for direct and indirect injection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fix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Critical attack success rate equals zero at release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Security claims are not challenged with adversarial inputs</a:t>
            </a:r>
          </a:p>
        </p:txBody>
      </p:sp>
    </p:spTree>
  </p:cSld>
  <p:transition spd="fast">
    <p:fade/>
  </p:transition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Red-team acceptance: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test_id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attack_class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expected_control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observed_result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severity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Red-team acceptance: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Critical attack success rate equals zero at release.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Third-party service level: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External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external service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monitoring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Escalation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escalation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Exit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exit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Contract measurable security and exit obligations</a:t>
            </a:r>
          </a:p>
        </p:txBody>
      </p:sp>
    </p:spTree>
  </p:cSld>
  <p:transition spd="fast">
    <p:fade/>
  </p:transition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Third-party service level: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agent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Contract measurable security and exit obligations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exit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Provider evidence meets each contracted SLA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Provider outage or breach cannot be investigated</a:t>
            </a:r>
          </a:p>
        </p:txBody>
      </p:sp>
    </p:spTree>
  </p:cSld>
  <p:transition spd="fast">
    <p:fade/>
  </p:transition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Third-party service level: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availability_slo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log_access_sla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breach_notice_hours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export_format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Third-party service level: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Provider evidence meets each contracted SLA.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Incident notification: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detection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Privacy/Security Triage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privacy/security triage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Decision Clock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decision clock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Notification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notification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Start jurisdiction-specific clocks at verified discovery</a:t>
            </a:r>
          </a:p>
        </p:txBody>
      </p:sp>
    </p:spTree>
  </p:cSld>
  <p:transition spd="fast">
    <p:fade/>
  </p:transition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Incident notification: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detection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Start jurisdiction-specific clocks at verified discovery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notification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Decision and notification timestamps are auditable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Notification deadline is missed because ownership is unclear</a:t>
            </a:r>
          </a:p>
        </p:txBody>
      </p:sp>
    </p:spTree>
  </p:cSld>
  <p:transition spd="fast">
    <p:fade/>
  </p:transition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Incident notification: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incident_id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discovered_at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jurisdictions[]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impact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deadline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Incident notification: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Decision and notification timestamps are auditable.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Exception workflow: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Control Failure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control failure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Exception Request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exception request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Compensating Control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compensating control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Expiry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expiry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Time-box exceptions and auto-disable at expiry</a:t>
            </a:r>
          </a:p>
        </p:txBody>
      </p:sp>
    </p:spTree>
  </p:cSld>
  <p:transition spd="fast">
    <p:fade/>
  </p:transition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Exception workflow: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failure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Time-box exceptions and auto-disable at expiry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expiry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Zero active exceptions are past expiry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Temporary bypass becomes permanent shadow policy</a:t>
            </a:r>
          </a:p>
        </p:txBody>
      </p:sp>
    </p:spTree>
  </p:cSld>
  <p:transition spd="fast">
    <p:fade/>
  </p:transition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Exception workflow: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exception_id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control_id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rationale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risk_owner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expiry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compensation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Exception workflow: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Zero active exceptions are past expiry.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Framework crosswalk: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Requirement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requirement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Control Objective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control objective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Implementation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implementation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Maintain one control-to-framework crosswalk</a:t>
            </a:r>
          </a:p>
        </p:txBody>
      </p:sp>
    </p:spTree>
  </p:cSld>
  <p:transition spd="fast">
    <p:fade/>
  </p:transition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Framework crosswalk: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requirement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Maintain one control-to-framework crosswalk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evidence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Each applicable clause has current evidence or a gap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Multiple audits ask for duplicate evidence with inconsistent answers</a:t>
            </a:r>
          </a:p>
        </p:txBody>
      </p:sp>
    </p:spTree>
  </p:cSld>
  <p:transition spd="fast">
    <p:fade/>
  </p:transition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Framework crosswalk: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framework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clause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control_id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evidence_id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coverage_status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Framework crosswalk: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Each applicable clause has current evidence or a gap.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NIST AI RMF operations: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199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Govern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GOVERN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Map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MAP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Measure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MEASURE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Manage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MANAGE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Monitoring Feedback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monitoring feedback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Connect RMF outcomes to runtime controls and metrics</a:t>
            </a:r>
          </a:p>
        </p:txBody>
      </p:sp>
    </p:spTree>
  </p:cSld>
  <p:transition spd="fast">
    <p:fade/>
  </p:transition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NIST AI RMF operations: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GOVERN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Connect RMF outcomes to runtime controls and metrics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monitoring feedback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Managed risks show evidence from production monitoring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AI risk process stops at documentation</a:t>
            </a:r>
          </a:p>
        </p:txBody>
      </p:sp>
    </p:spTree>
  </p:cSld>
  <p:transition spd="fast">
    <p:fade/>
  </p:transition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NIST AI RMF operations: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function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category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risk_scenario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response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NIST AI RMF operations: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Managed risks show evidence from production monitoring.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ISO 27001 integration: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Isms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ISMS context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Risk Treatment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risk treatment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Annex A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Annex A controls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Add agent assets and treatments to the existing ISMS</a:t>
            </a:r>
          </a:p>
        </p:txBody>
      </p:sp>
    </p:spTree>
  </p:cSld>
  <p:transition spd="fast">
    <p:fade/>
  </p:transition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ISO 27001 integration: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ISMS context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Add agent assets and treatments to the existing ISMS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evidence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Agent risks appear in SoA and internal-audit sampling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systems sit outside the established ISMS</a:t>
            </a:r>
          </a:p>
        </p:txBody>
      </p:sp>
    </p:spTree>
  </p:cSld>
  <p:transition spd="fast">
    <p:fade/>
  </p:transition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ISO 27001 integration: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asset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risk_id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control_ref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statement_of_applicability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ISO 27001 integration: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Agent risks appear in SoA and internal-audit sampling.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Secure development lifecycle: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Design Threat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design threat model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Code/Prompt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code/prompt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Test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test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Deploy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deploy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Monitor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monitor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Apply secure SDLC controls to all agent artifacts</a:t>
            </a:r>
          </a:p>
        </p:txBody>
      </p:sp>
    </p:spTree>
  </p:cSld>
  <p:transition spd="fast">
    <p:fade/>
  </p:transition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Secure development lifecycle: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design threat model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Apply secure SDLC controls to all agent artifacts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monitor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No production artifact lacks review and test evidence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Prompt/config changes bypass application security review</a:t>
            </a:r>
          </a:p>
        </p:txBody>
      </p:sp>
    </p:spTree>
  </p:cSld>
  <p:transition spd="fast">
    <p:fade/>
  </p:transition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Secure development lifecycle: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artifact_type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reviewer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tests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vulnerabilities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approval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Secure development lifecycle: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No production artifact lacks review and test evidence.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Model/version governance: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Approved Model Catalogue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approved model catalogue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evaluation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Pinning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pinning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Monitoring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monitoring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Pin versions where possible and re-evaluate changes</a:t>
            </a:r>
          </a:p>
        </p:txBody>
      </p:sp>
    </p:spTree>
  </p:cSld>
  <p:transition spd="fast">
    <p:fade/>
  </p:transition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Model/version governance: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approved model catalogue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Pin versions where possible and re-evaluate changes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monitoring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Behavioural regression stays within tolerance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Provider model update changes behaviour unexpectedly</a:t>
            </a:r>
          </a:p>
        </p:txBody>
      </p:sp>
    </p:spTree>
  </p:cSld>
  <p:transition spd="fast">
    <p:fade/>
  </p:transition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Model/version governance: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provider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model_id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version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eval_set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retirement_date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Model/version governance: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Behavioural regression stays within tolerance.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Security communication cadence: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Control Owners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control owners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Operational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operational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Risk Committee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risk committee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Board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board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Tailor evidence and decisions to each governance layer</a:t>
            </a:r>
          </a:p>
        </p:txBody>
      </p:sp>
    </p:spTree>
  </p:cSld>
  <p:transition spd="fast">
    <p:fade/>
  </p:transition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Security communication cadence: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owners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Tailor evidence and decisions to each governance layer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board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Actions have owners and due dates after every review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Technical alerts never become business decisions</a:t>
            </a:r>
          </a:p>
        </p:txBody>
      </p:sp>
    </p:spTree>
  </p:cSld>
  <p:transition spd="fast">
    <p:fade/>
  </p:transition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Security communication cadence: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audience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frequency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metrics[]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action_owner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Security communication cadence: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Actions have owners and due dates after every review.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Assurance dashboard: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Telemetry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telemetry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tests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Exceptions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exceptions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Incidents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incidents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Governed Metrics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governed metrics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Use decision-linked leading and lagging indicators</a:t>
            </a:r>
          </a:p>
        </p:txBody>
      </p:sp>
    </p:spTree>
  </p:cSld>
  <p:transition spd="fast">
    <p:fade/>
  </p:transition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Assurance dashboard: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telemetry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 decision-linked leading and lagging indicators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governed metrics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Threshold breach triggers a documented action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Vanity metrics hide deteriorating controls</a:t>
            </a:r>
          </a:p>
        </p:txBody>
      </p:sp>
    </p:spTree>
  </p:cSld>
  <p:transition spd="fast">
    <p:fade/>
  </p:transition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Assurance dashboard: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metric_id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numerator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denominator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threshold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trend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Assurance dashboard: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Threshold breach triggers a documented action.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Training and tabletop: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Role Profile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role profile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Scenario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scenario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Injects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injects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Decisions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decisions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After-Action Plan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after-action plan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Rehearse prompt injection and tool abuse quarterly</a:t>
            </a:r>
          </a:p>
        </p:txBody>
      </p:sp>
    </p:spTree>
  </p:cSld>
  <p:transition spd="fast">
    <p:fade/>
  </p:transition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Training and tabletop: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role profile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Rehearse prompt injection and tool abuse quarterly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after-action 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Closure rate and containment time improve across exercises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Teams know policy but cannot execute containment</a:t>
            </a:r>
          </a:p>
        </p:txBody>
      </p:sp>
    </p:spTree>
  </p:cSld>
  <p:transition spd="fast">
    <p:fade/>
  </p:transition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Training and tabletop: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exercise_id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roles[]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inject_time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gap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due_date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Training and tabletop: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B8D4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Closure rate and containment time improve across exercises.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A3 · 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04 — Assemble a Compliance Evidence Pack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folder and synthetic mock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synthetic data in activity-04-compliance-evidence to make a security-operations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mock_evidence.json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Runnable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activity.py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Output artifact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compliance_report.md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Acceptance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Each required control maps to current evidence, an owner and a status; gaps are explicit.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 boundary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Offline simulation only; no live credentials, systems or external services.</a:t>
            </a:r>
          </a:p>
        </p:txBody>
      </p:sp>
    </p:spTree>
  </p:cSld>
  <p:transition spd="fast">
    <p:fade/>
  </p:transition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A3 · PRACTICE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04: mechanism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design; complete procedure is in the Learner Guide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mock_evidence.json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required fields and types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and decision rules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Produce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compliance_report.md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Each required control maps to current evidence, an owner and a status; gaps are explicit.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The PPT shows the mechanism and evidence path; the click-by-click procedure remains in the Learner Guide.</a:t>
            </a:r>
          </a:p>
        </p:txBody>
      </p:sp>
    </p:spTree>
  </p:cSld>
  <p:transition spd="fast">
    <p:fade/>
  </p:transition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A3 ·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04: evidence artifact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files in labs/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Concrete artifact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Verification purpose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mock_evidence.json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Synthetic source supplied in the activity folder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Processor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activity.py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Python 3 standard library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compliance_report.md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Generated locally and reproducible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Maps directly to the practical assessment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PASS or treatment 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Must reconcile with mock values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Cleanup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Delete compliance_report.md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Retain script and mock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A4 · 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05 — Communicate Agent Security Posture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folder and synthetic mock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synthetic data in activity-05-security-communication to make a security-operations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mock_metrics.csv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Runnable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activity.py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Output artifact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security_brief.html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Acceptance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The generated brief shows thresholds, current values, decisions, owners and due dates for two audiences.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 boundary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Offline simulation only; no live credentials, systems or external services.</a:t>
            </a:r>
          </a:p>
        </p:txBody>
      </p:sp>
    </p:spTree>
  </p:cSld>
  <p:transition spd="fast">
    <p:fade/>
  </p:transition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A4 · PRACTICE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05: mechanism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design; complete procedure is in the Learner Guide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mock_metrics.csv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required fields and types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and decision rules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00B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Produce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security_brief.html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0B8D4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The generated brief shows thresholds, current values, decisions, owners and due dates for two audiences.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The PPT shows the mechanism and evidence path; the click-by-click procedure remains in the Learner Guide.</a:t>
            </a:r>
          </a:p>
        </p:txBody>
      </p:sp>
    </p:spTree>
  </p:cSld>
  <p:transition spd="fast">
    <p:fade/>
  </p:transition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A4 ·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05: evidence artifact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files in labs/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Concrete artifact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Verification purpose</a:t>
                      </a:r>
                    </a:p>
                  </a:txBody>
                  <a:tcPr marL="91440" marR="91440" marT="45720" marB="45720">
                    <a:solidFill>
                      <a:srgbClr val="00B8D4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mock_metrics.csv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Synthetic source supplied in the activity folder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Processor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activity.py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Python 3 standard library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security_brief.html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Generated locally and reproducible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Maps directly to the practical assessment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PASS or treatment 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Must reconcile with mock values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Cleanup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Delete security_brief.html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Retain script and mock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B8D4"/>
                </a:solidFill>
                <a:latin typeface="Aptos"/>
              </a:rPr>
              <a:t>LO2 · K3, K4, A3,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Topic 02 technical recap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B8D4"/>
                </a:solidFill>
                <a:latin typeface="Aptos"/>
              </a:rPr>
              <a:t>233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Topic technical-anchor inventory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ISO 27001 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Agent risks appear in SoA and internal-audit sampling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Secure development lifecycle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No production artifact lacks review and test 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Model/version governance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Behavioural regression stays within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Security communication cadence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Actions have owners and due dates after every review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Assurance dashboard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Threshold breach triggers a documented action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Training and tabletop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Closure rate and containment time improve across exercises</a:t>
            </a:r>
          </a:p>
        </p:txBody>
      </p:sp>
    </p:spTree>
  </p:cSld>
  <p:transition spd="fast">
    <p:fade/>
  </p:transition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ic-03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46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80160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47088"/>
            <a:ext cx="5440680" cy="1920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3500" b="1">
                <a:solidFill>
                  <a:srgbClr val="0B1F33"/>
                </a:solidFill>
                <a:latin typeface="Aptos"/>
              </a:rPr>
              <a:t>AI Agent Risk Assessment and Security Control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257800" cy="11704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5B6776"/>
                </a:solidFill>
                <a:latin typeface="Aptos"/>
              </a:rPr>
              <a:t>Threat paths · risk quantification · control effectiveness · remediation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85232"/>
            <a:ext cx="52578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LO3 · K5, K6, A5, A6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234</a:t>
            </a:r>
          </a:p>
        </p:txBody>
      </p:sp>
    </p:spTree>
  </p:cSld>
  <p:transition spd="fast">
    <p:push/>
  </p:transition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TOPIC 03 ·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LO3 and assessment criteria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Approved course proposal criteria adapted to the autonomous-agent context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K5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Knowledge of security management benchmarks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K6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Gap analysis in organisation security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A5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Review existing security controls against current and future business costs and risks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A6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Develop strategies and plans to resolve security gaps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LO3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LO3: Evaluate existing agent-security controls against business risks and costs, and develop strategies to resolve identified security gaps.</a:t>
            </a:r>
          </a:p>
        </p:txBody>
      </p:sp>
    </p:spTree>
  </p:cSld>
  <p:transition spd="fast">
    <p:fade/>
  </p:transition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FIVE-LAYER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AI Agent Risk Assessment and Security Control Evaluation: operating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Courseware-build mechanism-level coverage contract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Components, interfaces and ownership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Runtime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States, transitions and decision points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Fields, rules, thresholds and evidence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Failure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Attack path, diagnostic and control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Acceptance test and activity artifact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Every mechanism in this topic is taught through all five layers.</a:t>
            </a:r>
          </a:p>
        </p:txBody>
      </p:sp>
    </p:spTree>
  </p:cSld>
  <p:transition spd="fast">
    <p:fade/>
  </p:transition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threat model: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Assets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assets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Trust Boundaries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trust boundaries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Attacker Goals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attacker goals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Abuse Paths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abuse paths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Controls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controls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Model runtime, tools, memory, identity and suppliers</a:t>
            </a:r>
          </a:p>
        </p:txBody>
      </p:sp>
    </p:spTree>
  </p:cSld>
  <p:transition spd="fast">
    <p:fade/>
  </p:transition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threat model: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assets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Model runtime, tools, memory, identity and suppliers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Every high-value asset has at least one tested abuse path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Threat model treats the LLM as the only attack surface</a:t>
            </a:r>
          </a:p>
        </p:txBody>
      </p:sp>
    </p:spTree>
  </p:cSld>
  <p:transition spd="fast">
    <p:fade/>
  </p:transition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threat model: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asset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entry_point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precondition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technique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impact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mitigation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threat model: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Every high-value asset has at least one tested abuse path.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Direct prompt injection: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User Input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user 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context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Planner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planner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Prohibited Tool Proposal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prohibited tool proposal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Separate policy from content and enforce action authorisation</a:t>
            </a:r>
          </a:p>
        </p:txBody>
      </p:sp>
    </p:spTree>
  </p:cSld>
  <p:transition spd="fast">
    <p:fade/>
  </p:transition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Direct prompt injection: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user 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Separate policy from content and enforce action authorisation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prohibited tool proposal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Injection suite cannot produce an unauthorised tool call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User instruction overrides policy and triggers a sensitive action</a:t>
            </a:r>
          </a:p>
        </p:txBody>
      </p:sp>
    </p:spTree>
  </p:cSld>
  <p:transition spd="fast">
    <p:fade/>
  </p:transition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Direct prompt injection: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input_source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user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injection_score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target_instruction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Direct prompt injection: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Injection suite cannot produce an unauthorised tool call.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Indirect prompt injection: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Document/Web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document/web page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Retriever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retriever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Context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context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Planner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planner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Tool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Label untrusted context and prevent it from granting authority</a:t>
            </a:r>
          </a:p>
        </p:txBody>
      </p:sp>
    </p:spTree>
  </p:cSld>
  <p:transition spd="fast">
    <p:fade/>
  </p:transition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Indirect prompt injection: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document/web page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Label untrusted context and prevent it from granting authority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tool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Untrusted-context test is contained and logged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Retrieved content tells the agent to exfiltrate data</a:t>
            </a:r>
          </a:p>
        </p:txBody>
      </p:sp>
    </p:spTree>
  </p:cSld>
  <p:transition spd="fast">
    <p:fade/>
  </p:transition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Indirect prompt injection: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source_uri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trust_label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content_hash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instruction_markers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Indirect prompt injection: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Untrusted-context test is contained and logged.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poisoning: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Tool Metadata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metadata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Planner Selection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planner selection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Malicious Output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malicious output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Next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next action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Pin signed metadata and constrain tool output as untrusted</a:t>
            </a:r>
          </a:p>
        </p:txBody>
      </p:sp>
    </p:spTree>
  </p:cSld>
  <p:transition spd="fast">
    <p:fade/>
  </p:transition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poisoning: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tool metadata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Pin signed metadata and constrain tool output as untrusted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next action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Metadata hash mismatch blocks registration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Poisoned tool description manipulates planning</a:t>
            </a:r>
          </a:p>
        </p:txBody>
      </p:sp>
    </p:spTree>
  </p:cSld>
  <p:transition spd="fast">
    <p:fade/>
  </p:transition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poisoning: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tool_id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description_hash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publisher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output_trust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version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 poisoning: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Metadata hash mismatch blocks registration.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Context poisoning: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System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system prompt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Developer Prompt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developer prompt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Memory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memory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Retrieval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retrieval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User Input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user input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Tag provenance and enforce precedence outside the model</a:t>
            </a:r>
          </a:p>
        </p:txBody>
      </p:sp>
    </p:spTree>
  </p:cSld>
  <p:transition spd="fast">
    <p:fade/>
  </p:transition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Context poisoning: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system prompt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Tag provenance and enforce precedence outside the model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user input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Context assembly report shows trust labels and hashes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Low-trust context persists as high-trust instruction</a:t>
            </a:r>
          </a:p>
        </p:txBody>
      </p:sp>
    </p:spTree>
  </p:cSld>
  <p:transition spd="fast">
    <p:fade/>
  </p:transition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Context poisoning: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segment_type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source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precedence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integrity_hash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trust_level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Context poisoning: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Context assembly report shows trust labels and hashes.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Memory poisoning: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Conversation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conversation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Memory Write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memory write policy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Vector Store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vector store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Later Retrieval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later retrieval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Validate writes, isolate tenants and expire low-confidence memory</a:t>
            </a:r>
          </a:p>
        </p:txBody>
      </p:sp>
    </p:spTree>
  </p:cSld>
  <p:transition spd="fast">
    <p:fade/>
  </p:transition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Memory poisoning: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258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conversation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Validate writes, isolate tenants and expire low-confidence memory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later retrieval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Poison seed is absent from unrelated session retrieval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Adversarial fact persists and steers future sessions</a:t>
            </a:r>
          </a:p>
        </p:txBody>
      </p:sp>
    </p:spTree>
  </p:cSld>
  <p:transition spd="fast">
    <p:fade/>
  </p:transition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Memory poisoning: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memory_id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author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tenant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confidence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ttl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approved_for_reuse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Memory poisoning: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Poison seed is absent from unrelated session retrieval.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 exfiltration: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261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Sensitive Store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sensitive store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Agent 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context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Transformation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transformation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Outbound Tool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outbound tool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Use semantic DLP, egress policy and purpose binding</a:t>
            </a:r>
          </a:p>
        </p:txBody>
      </p:sp>
    </p:spTree>
  </p:cSld>
  <p:transition spd="fast">
    <p:fade/>
  </p:transition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 exfiltration: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sensitive store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 semantic DLP, egress policy and purpose binding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outbound tool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Red-team exfil attempts transfer zero restricted bytes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encodes restricted data to evade keyword DLP</a:t>
            </a:r>
          </a:p>
        </p:txBody>
      </p:sp>
    </p:spTree>
  </p:cSld>
  <p:transition spd="fast">
    <p:fade/>
  </p:transition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 exfiltration: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data_class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bytes_read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destination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bytes_out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leak_score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 exfiltration: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Red-team exfil attempts transfer zero restricted bytes.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Credential harvesting: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Prompt/Tool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prompt/tool output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context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Secret Lookup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secret lookup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Outbound Channel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outbound channel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Broker secrets only to tools; never return them to the model</a:t>
            </a:r>
          </a:p>
        </p:txBody>
      </p:sp>
    </p:spTree>
  </p:cSld>
  <p:transition spd="fast">
    <p:fade/>
  </p:transition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Credential harvesting: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prompt/tool output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Broker secrets only to tools; never return them to the model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outbound channel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Model-visible trace contains no secret material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is tricked into retrieving and revealing a token</a:t>
            </a:r>
          </a:p>
        </p:txBody>
      </p:sp>
    </p:spTree>
  </p:cSld>
  <p:transition spd="fast">
    <p:fade/>
  </p:transition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Credential harvesting: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secret_ref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access_reason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requester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destination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Credential harvesting: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Model-visible trace contains no secret material.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Excessive agency: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Broad Goal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broad goal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Planner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planner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Long Action Chain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long action 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Irreversible Side Effect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irreversible side effect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Bound steps, scope, spend and irreversible actions</a:t>
            </a:r>
          </a:p>
        </p:txBody>
      </p:sp>
    </p:spTree>
  </p:cSld>
  <p:transition spd="fast">
    <p:fade/>
  </p:transition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Excessive agency: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broad goal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Bound steps, scope, spend and irreversible actions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irreversible side effect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Action-chain tests stop at configured bounds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performs destructive actions beyond user intent</a:t>
            </a:r>
          </a:p>
        </p:txBody>
      </p:sp>
    </p:spTree>
  </p:cSld>
  <p:transition spd="fast">
    <p:fade/>
  </p:transition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Excessive agency: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max_steps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allowed_tools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spend_limit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approval_tier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stop_reason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Excessive agency: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Action-chain tests stop at configured bounds.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Privilege escalation: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Low-Privilege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low-privilege agent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Mis-Scoped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mis-scoped role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Admin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admin API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State Change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state change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Eliminate wildcard scopes and validate resource ownership</a:t>
            </a:r>
          </a:p>
        </p:txBody>
      </p:sp>
    </p:spTree>
  </p:cSld>
  <p:transition spd="fast">
    <p:fade/>
  </p:transition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Privilege escalation: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low-privilege agent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Eliminate wildcard scopes and validate resource ownership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change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Privilege-path graph has no unintended route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Wildcard permission makes admin action reachable</a:t>
            </a:r>
          </a:p>
        </p:txBody>
      </p:sp>
    </p:spTree>
  </p:cSld>
  <p:transition spd="fast">
    <p:fade/>
  </p:transition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Privilege escalation: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principal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role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scope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resource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requested_action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Privilege escalation: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Privilege-path graph has no unintended route.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Compromised integration: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Saas Connector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SaaS connector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Compromised Account/Api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compromised account/API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Poisoned Result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poisoned result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Treat external output as untrusted and monitor connector identity</a:t>
            </a:r>
          </a:p>
        </p:txBody>
      </p:sp>
    </p:spTree>
  </p:cSld>
  <p:transition spd="fast">
    <p:fade/>
  </p:transition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Compromised integration: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agent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Treat external output as untrusted and monitor connector identity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poisoned result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Connector anomaly triggers quarantine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Trusted integration returns malicious instructions or data</a:t>
            </a:r>
          </a:p>
        </p:txBody>
      </p:sp>
    </p:spTree>
  </p:cSld>
  <p:transition spd="fast">
    <p:fade/>
  </p:transition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Compromised integration: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connector_id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auth_subject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endpoint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tls_peer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response_hash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Compromised integration: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Connector anomaly triggers quarantine.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Supply-chain compromise: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Library/Model/Tool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library/model/tool image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Build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build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Registry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registry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Runtime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runtime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Pin hashes, verify signatures and scan the AI BOM</a:t>
            </a:r>
          </a:p>
        </p:txBody>
      </p:sp>
    </p:spTree>
  </p:cSld>
  <p:transition spd="fast">
    <p:fade/>
  </p:transition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Supply-chain compromise: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library/model/tool image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Pin hashes, verify signatures and scan the AI BOM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runtime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Unapproved digest cannot pass deployment gate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Typosquatted dependency executes inside the agent runtime</a:t>
            </a:r>
          </a:p>
        </p:txBody>
      </p:sp>
    </p:spTree>
  </p:cSld>
  <p:transition spd="fast">
    <p:fade/>
  </p:transition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Supply-chain compromise: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package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version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digest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signer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SBOM_ref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vuln_status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Supply-chain compromise: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Unapproved digest cannot pass deployment gate.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Unbounded consumption: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request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Recursive Planning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recursive planning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Model/Tool Calls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model/tool calls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Billing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billing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Enforce budgets, loop detection and per-session quotas</a:t>
            </a:r>
          </a:p>
        </p:txBody>
      </p:sp>
    </p:spTree>
  </p:cSld>
  <p:transition spd="fast">
    <p:fade/>
  </p:transition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Unbounded consumption: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request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Enforce budgets, loop detection and per-session quotas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billing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Session stops before cost_sgd exceeds budget_sgd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Loop consumes quota and creates unexpected cost</a:t>
            </a:r>
          </a:p>
        </p:txBody>
      </p:sp>
    </p:spTree>
  </p:cSld>
  <p:transition spd="fast">
    <p:fade/>
  </p:transition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Unbounded consumption: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call_count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token_count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elapsed_ms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cost_sgd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budget_sgd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Unbounded consumption: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Session stops before cost_sgd exceeds budget_sgd.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Service denial: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Traffic 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traffic source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Queue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queue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Agent Worker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worker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Model/Tool Dependencies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model/tool dependencies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Rate-limit, queue fairly and isolate critical workloads</a:t>
            </a:r>
          </a:p>
        </p:txBody>
      </p:sp>
    </p:spTree>
  </p:cSld>
  <p:transition spd="fast">
    <p:fade/>
  </p:transition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Service denial: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traffic source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Rate-limit, queue fairly and isolate critical workloads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model/tool dependencies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Critical queue latency remains within SLO under load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Prompt flood saturates limited agent workers</a:t>
            </a:r>
          </a:p>
        </p:txBody>
      </p:sp>
    </p:spTree>
  </p:cSld>
  <p:transition spd="fast">
    <p:fade/>
  </p:transition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Service denial: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request_rate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queue_depth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timeout_rate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dependency_health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Service denial: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Critical queue latency remains within SLO under load.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Hallucinated action: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Ambiguous 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ambiguous request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Fabricated Resource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fabricated resource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Tool 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call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Failure/Impact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failure/impact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Resolve and validate identifiers against authoritative data</a:t>
            </a:r>
          </a:p>
        </p:txBody>
      </p:sp>
    </p:spTree>
  </p:cSld>
  <p:transition spd="fast">
    <p:fade/>
  </p:transition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Hallucinated action: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ambiguous request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Resolve and validate identifiers against authoritative data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failure/impact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Unknown resource_id is denied before execution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invents an account and changes the wrong record</a:t>
            </a:r>
          </a:p>
        </p:txBody>
      </p:sp>
    </p:spTree>
  </p:cSld>
  <p:transition spd="fast">
    <p:fade/>
  </p:transition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Hallucinated action: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resource_id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source_of_truth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confidence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validation_result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Hallucinated action: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Unknown resource_id is denied before execution.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Insecure output handling: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3250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3392424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80260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Model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3136392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model output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6267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270248" y="1901952"/>
            <a:ext cx="3392424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104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2816352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Parser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8264" y="3273552"/>
            <a:ext cx="3136392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parser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0416" y="1901952"/>
            <a:ext cx="3392424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4059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9288" y="2816352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Downstream Interpreter/Browser/Sql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2" y="3273552"/>
            <a:ext cx="3136392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downstream interpreter/browser/SQL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Use structured schemas, escaping and non-executable rendering</a:t>
            </a:r>
          </a:p>
        </p:txBody>
      </p:sp>
    </p:spTree>
  </p:cSld>
  <p:transition spd="fast">
    <p:fade/>
  </p:transition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Insecure output handling: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model output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 structured schemas, escaping and non-executable rendering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downstream interpreter/browser/SQL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Fuzz outputs cannot cross the interpreter boundary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Generated command or markup executes as code</a:t>
            </a:r>
          </a:p>
        </p:txBody>
      </p:sp>
    </p:spTree>
  </p:cSld>
  <p:transition spd="fast">
    <p:fade/>
  </p:transition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Insecure output handling: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299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output_type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schema_valid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encoding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destination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sanitised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Insecure output handling: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Fuzz outputs cannot cross the interpreter boundary.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Sandbox escape: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Generated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generated code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Container Syscall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container syscall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Host Kernel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host kernel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Adjacent Workload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adjacent workload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Harden isolation and block sensitive mounts/syscalls</a:t>
            </a:r>
          </a:p>
        </p:txBody>
      </p:sp>
    </p:spTree>
  </p:cSld>
  <p:transition spd="fast">
    <p:fade/>
  </p:transition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Sandbox escape: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generated code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Harden isolation and block sensitive mounts/syscalls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adjacent workload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Escape test is blocked and produces a high-severity event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workload accesses host socket or filesystem</a:t>
            </a:r>
          </a:p>
        </p:txBody>
      </p:sp>
    </p:spTree>
  </p:cSld>
  <p:transition spd="fast">
    <p:fade/>
  </p:transition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Sandbox escape: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syscall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seccomp_action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uid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network_namespace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Sandbox escape: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Escape test is blocked and produces a high-severity event.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Human override failure: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Agent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agent proposal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Reviewer 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reviewer UI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Context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context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decision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Execution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execution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Show exact diff, impact and evidence; support reject and edit</a:t>
            </a:r>
          </a:p>
        </p:txBody>
      </p:sp>
    </p:spTree>
  </p:cSld>
  <p:transition spd="fast">
    <p:fade/>
  </p:transition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Human override failure: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agent proposal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Show exact diff, impact and evidence; support reject and edit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execution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Review sampling finds complete decision context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Reviewer rubber-stamps an opaque or misleading proposal</a:t>
            </a:r>
          </a:p>
        </p:txBody>
      </p:sp>
    </p:spTree>
  </p:cSld>
  <p:transition spd="fast">
    <p:fade/>
  </p:transition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Human override failure: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approval_id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action_summary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reviewer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Human override failure: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Review sampling finds complete decision context.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Likelihood-impact scoring: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Scenario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scenario evidence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Likelihood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likelihood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Impact Dimensions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impact dimensions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Inherent Score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inherent score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Define anchored scales and take the highest material impact</a:t>
            </a:r>
          </a:p>
        </p:txBody>
      </p:sp>
    </p:spTree>
  </p:cSld>
  <p:transition spd="fast">
    <p:fade/>
  </p:transition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Likelihood-impact scoring: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scenario evidence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Define anchored scales and take the highest material impact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inherent score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Independent scorers remain within one rating level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Teams compare risks using inconsistent scales</a:t>
            </a:r>
          </a:p>
        </p:txBody>
      </p:sp>
    </p:spTree>
  </p:cSld>
  <p:transition spd="fast">
    <p:fade/>
  </p:transition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Likelihood-impact scoring: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likelihood_1_5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financial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legal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safety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Likelihood-impact scoring: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Independent scorers remain within one rating level.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Expected-loss estimate: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5207508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87802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496976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Event Frequency × Loss Magnitude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4951476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event frequency × loss magnitude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5332" y="1901952"/>
            <a:ext cx="5207508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433054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4204" y="2816352"/>
            <a:ext cx="496976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Annualised Loss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3348" y="3273552"/>
            <a:ext cx="4951476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annualised loss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Use transparent ranges and sensitivity analysis</a:t>
            </a:r>
          </a:p>
        </p:txBody>
      </p:sp>
    </p:spTree>
  </p:cSld>
  <p:transition spd="fast">
    <p:fade/>
  </p:transition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Expected-loss estimate: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event frequency × loss magnitude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 transparent ranges and sensitivity analysis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annualised loss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expected_loss = frequency × loss; assumptions are documented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Control spend is justified only by qualitative fear</a:t>
            </a:r>
          </a:p>
        </p:txBody>
      </p:sp>
    </p:spTree>
  </p:cSld>
  <p:transition spd="fast">
    <p:fade/>
  </p:transition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Expected-loss estimate: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frequency_per_year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loss_sgd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expected_loss_sgd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confidence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Expected-loss estimate: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expected_loss = frequency × loss; assumptions are documented.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Control effectiveness: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Designed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designed control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Operating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operating test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Coverage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coverage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Effectiveness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effectiveness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Test design, operation and coverage separately</a:t>
            </a:r>
          </a:p>
        </p:txBody>
      </p:sp>
    </p:spTree>
  </p:cSld>
  <p:transition spd="fast">
    <p:fade/>
  </p:transition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Control effectiveness: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designed control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Test design, operation and coverage separately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effectiveness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effective coverage meets the risk-treatment target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Control exists but operates on only part of the fleet</a:t>
            </a:r>
          </a:p>
        </p:txBody>
      </p:sp>
    </p:spTree>
  </p:cSld>
  <p:transition spd="fast">
    <p:fade/>
  </p:transition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Control effectiveness: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design_score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operation_score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coverage_pct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effectiveness_pct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Control effectiveness: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effective coverage meets the risk-treatment target.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Residual risk: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5207508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87802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496976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Inherent Risk × (1 − Control Effectiveness)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4951476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inherent risk × (1 − control effectiveness)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5332" y="1901952"/>
            <a:ext cx="5207508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433054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4204" y="2816352"/>
            <a:ext cx="496976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Residual 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3348" y="3273552"/>
            <a:ext cx="4951476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residual decision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Calculate residual risk with tested effectiveness</a:t>
            </a:r>
          </a:p>
        </p:txBody>
      </p:sp>
    </p:spTree>
  </p:cSld>
  <p:transition spd="fast">
    <p:fade/>
  </p:transition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Residual risk: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inherent risk × (1 − control effectiveness)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Calculate residual risk with tested effectiveness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residual decision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Above-appetite residual risk is escalated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Reported risk ignores control failure or coverage gaps</a:t>
            </a:r>
          </a:p>
        </p:txBody>
      </p:sp>
    </p:spTree>
  </p:cSld>
  <p:transition spd="fast">
    <p:fade/>
  </p:transition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Residual risk: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inherent_score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effectiveness_pct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residual_score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appetite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Residual risk: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Above-appetite residual risk is escalated.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Gap register: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Benchmark/Control Objective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benchmark/control objective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Current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current state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Gap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gap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Owner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owner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Due Date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due date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Record evidence, severity, owner, dependency and acceptance test</a:t>
            </a:r>
          </a:p>
        </p:txBody>
      </p:sp>
    </p:spTree>
  </p:cSld>
  <p:transition spd="fast">
    <p:fade/>
  </p:transition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Gap register: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benchmark/control objective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Record evidence, severity, owner, dependency and acceptance test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due date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No high gap is ownerless or overdue without escalation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Findings lack an actionable path to closure</a:t>
            </a:r>
          </a:p>
        </p:txBody>
      </p:sp>
    </p:spTree>
  </p:cSld>
  <p:transition spd="fast">
    <p:fade/>
  </p:transition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Gap register: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gap_id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severity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target_date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Gap register: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No high gap is ownerless or overdue without escalation.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Remediation portfolio: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Gaps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gaps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Options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options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Cost/Risk Reduction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cost/risk reduction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Priority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priority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Roadmap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roadmap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Prioritise by risk reduction, feasibility and dependencies</a:t>
            </a:r>
          </a:p>
        </p:txBody>
      </p:sp>
    </p:spTree>
  </p:cSld>
  <p:transition spd="fast">
    <p:fade/>
  </p:transition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Remediation portfolio: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gaps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Prioritise by risk reduction, feasibility and dependencies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roadmap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Selected portfolio fits budget and maximises risk reduction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Teams fund visible controls instead of highest value</a:t>
            </a:r>
          </a:p>
        </p:txBody>
      </p:sp>
    </p:spTree>
  </p:cSld>
  <p:transition spd="fast">
    <p:fade/>
  </p:transition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Remediation portfolio: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option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cost_sgd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effort_days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risk_reduction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dependency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priority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Remediation portfolio: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6D4AC9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Selected portfolio fits budget and maximises risk reduction.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A5 · 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06 — Quantify Agent Risks and Control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folder and synthetic mock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synthetic data in activity-06-risk-control-evaluation to make a security-operations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mock_risks.csv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Runnable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activity.py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Output artifact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risk_evaluation.csv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Acceptance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Residual risk and expected annual loss calculations reconcile with the input assumptions.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 boundary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Offline simulation only; no live credentials, systems or external services.</a:t>
            </a:r>
          </a:p>
        </p:txBody>
      </p:sp>
    </p:spTree>
  </p:cSld>
  <p:transition spd="fast">
    <p:fade/>
  </p:transition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A5 · PRACTICE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06: mechanism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design; complete procedure is in the Learner Guide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mock_risks.csv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required fields and types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and decision rules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Produce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risk_evaluation.csv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Residual risk and expected annual loss calculations reconcile with the input assumptions.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The PPT shows the mechanism and evidence path; the click-by-click procedure remains in the Learner Guide.</a:t>
            </a:r>
          </a:p>
        </p:txBody>
      </p:sp>
    </p:spTree>
  </p:cSld>
  <p:transition spd="fast">
    <p:fade/>
  </p:transition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A5 ·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06: evidence artifact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files in labs/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Concrete artifact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Verification purpose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mock_risks.csv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Synthetic source supplied in the activity folder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Processor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activity.py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Python 3 standard library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risk_evaluation.csv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Generated locally and reproducible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Maps directly to the practical assessment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PASS or treatment 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Must reconcile with mock values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Cleanup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Delete risk_evaluation.csv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Retain script and mock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A6 · 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07 — Prioritise a Security Gap Remediation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folder and synthetic mock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synthetic data in activity-07-gap-remediation to make a security-operations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mock_gaps.csv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Runnable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activity.py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Output artifact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remediation_roadmap.md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Acceptance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The roadmap stays within the mock budget and prioritises overdue and above-appetite gaps.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 boundary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Offline simulation only; no live credentials, systems or external services.</a:t>
            </a:r>
          </a:p>
        </p:txBody>
      </p:sp>
    </p:spTree>
  </p:cSld>
  <p:transition spd="fast">
    <p:fade/>
  </p:transition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A6 · PRACTICE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07: mechanism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design; complete procedure is in the Learner Guide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mock_gaps.csv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required fields and types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and decision rules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6D4A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Produce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remediation_roadmap.md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6D4AC9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The roadmap stays within the mock budget and prioritises overdue and above-appetite gaps.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The PPT shows the mechanism and evidence path; the click-by-click procedure remains in the Learner Guide.</a:t>
            </a:r>
          </a:p>
        </p:txBody>
      </p:sp>
    </p:spTree>
  </p:cSld>
  <p:transition spd="fast">
    <p:fade/>
  </p:transition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A6 ·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07: evidence artifact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files in labs/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Concrete artifact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Verification purpose</a:t>
                      </a:r>
                    </a:p>
                  </a:txBody>
                  <a:tcPr marL="91440" marR="91440" marT="45720" marB="45720">
                    <a:solidFill>
                      <a:srgbClr val="6D4AC9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mock_gaps.csv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Synthetic source supplied in the activity folder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Processor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activity.py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Python 3 standard library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remediation_roadmap.md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Generated locally and reproducible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Maps directly to the practical assessment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PASS or treatment 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Must reconcile with mock values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Cleanup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Delete remediation_roadmap.md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Retain script and mock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6D4AC9"/>
                </a:solidFill>
                <a:latin typeface="Aptos"/>
              </a:rPr>
              <a:t>LO3 · K5, K6, A5,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Topic 03 technical recap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6D4AC9"/>
                </a:solidFill>
                <a:latin typeface="Aptos"/>
              </a:rPr>
              <a:t>339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Topic technical-anchor inventory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Likelihood-impact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Independent scorers remain within one rating level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Expected-loss estimate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expected_loss = frequency × loss; assumptions are documented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Control effectiveness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effective coverage meets the risk-treatment 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Residual risk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Above-appetite residual risk is escalated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Gap register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No high gap is ownerless or overdue without escalation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Remediation portfolio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Selected portfolio fits budget and maximises risk reduction</a:t>
            </a:r>
          </a:p>
        </p:txBody>
      </p:sp>
    </p:spTree>
  </p:cSld>
  <p:transition spd="fast">
    <p:fade/>
  </p:transition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ic-04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46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80160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47088"/>
            <a:ext cx="5440680" cy="1920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3500" b="1">
                <a:solidFill>
                  <a:srgbClr val="0B1F33"/>
                </a:solidFill>
                <a:latin typeface="Aptos"/>
              </a:rPr>
              <a:t>Implementing and Monitoring Organisation-Wide Agent Security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257800" cy="11704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5B6776"/>
                </a:solidFill>
                <a:latin typeface="Aptos"/>
              </a:rPr>
              <a:t>Telemetry · detection · incident response · containment · recovery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85232"/>
            <a:ext cx="52578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LO4 · K7, A7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340</a:t>
            </a:r>
          </a:p>
        </p:txBody>
      </p:sp>
    </p:spTree>
  </p:cSld>
  <p:transition spd="fast">
    <p:push/>
  </p:transition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TOPIC 04 ·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LO4 and assessment criteria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Approved course proposal criteria adapted to the autonomous-agent context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K7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Implications and impact of security gaps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A7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Drive organisation-wide security initiatives in line with internal and external standards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LO4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LO4: Implement organisation-wide agent-security initiatives, assessing and addressing the impact of security gaps.</a:t>
            </a:r>
          </a:p>
        </p:txBody>
      </p:sp>
    </p:spTree>
  </p:cSld>
  <p:transition spd="fast">
    <p:fade/>
  </p:transition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FIVE-LAYER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Implementing and Monitoring Organisation-Wide Agent Security Operations: operating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Courseware-build mechanism-level coverage contract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Components, interfaces and ownership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Runtime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States, transitions and decision points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Fields, rules, thresholds and evidence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Failure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Attack path, diagnostic and control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Acceptance test and activity artifact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Every mechanism in this topic is taught through all five layers.</a:t>
            </a:r>
          </a:p>
        </p:txBody>
      </p:sp>
    </p:spTree>
  </p:cSld>
  <p:transition spd="fast">
    <p:fade/>
  </p:transition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Telemetry contract: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Runtime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runtime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Policy Gateway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policy gateway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Collector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collector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Siem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SIEM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Require schema validation at ingestion</a:t>
            </a:r>
          </a:p>
        </p:txBody>
      </p:sp>
    </p:spTree>
  </p:cSld>
  <p:transition spd="fast">
    <p:fade/>
  </p:transition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Telemetry contract: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runtime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 schema validation at ingestion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SIEM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Critical-event schema conformance ≥99.5%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Missing fields break investigations and detections</a:t>
            </a:r>
          </a:p>
        </p:txBody>
      </p:sp>
    </p:spTree>
  </p:cSld>
  <p:transition spd="fast">
    <p:fade/>
  </p:transition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Telemetry contract: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event_time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trace_id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span_id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session_id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event_type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Telemetry contract: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Critical-event schema conformance ≥99.5%.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Trace correlation: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User 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user request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Plan Spans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plan spans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Tool Spans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spans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Approval Span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approval span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Outcome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outcome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Propagate trace context across every component</a:t>
            </a:r>
          </a:p>
        </p:txBody>
      </p:sp>
    </p:spTree>
  </p:cSld>
  <p:transition spd="fast">
    <p:fade/>
  </p:transition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Trace correlation: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user request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Propagate trace context across every component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outcome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 sampled session reconstructs without orphan spans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Events exist but cannot be ordered into one incident</a:t>
            </a:r>
          </a:p>
        </p:txBody>
      </p:sp>
    </p:spTree>
  </p:cSld>
  <p:transition spd="fast">
    <p:fade/>
  </p:transition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Trace correlation: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trace_id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parent_span_id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actor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resource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Trace correlation: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A sampled session reconstructs without orphan spans.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Immutable audit log: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Event Producer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event producer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Signed Envelope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signed envelope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Append-Only Store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append-only store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Verifier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verifier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Use append-only storage and hash chaining</a:t>
            </a:r>
          </a:p>
        </p:txBody>
      </p:sp>
    </p:spTree>
  </p:cSld>
  <p:transition spd="fast">
    <p:fade/>
  </p:transition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Immutable audit log: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event producer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 append-only storage and hash chaining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verifier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Verification detects any missing or altered record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Attacker deletes or edits incriminating tool events</a:t>
            </a:r>
          </a:p>
        </p:txBody>
      </p:sp>
    </p:spTree>
  </p:cSld>
  <p:transition spd="fast">
    <p:fade/>
  </p:transition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Immutable audit log: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sequence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previous_hash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event_hash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signer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timestamp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Immutable audit log: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Verification detects any missing or altered record.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Detection rule lifecycle: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Hypothesis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hypothesis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Query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query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Test 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test data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Deployment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deployment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Tuning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tuning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Version rules with tests, owners and tuning history</a:t>
            </a:r>
          </a:p>
        </p:txBody>
      </p:sp>
    </p:spTree>
  </p:cSld>
  <p:transition spd="fast">
    <p:fade/>
  </p:transition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Detection rule lifecycle: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hypothesis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Version rules with tests, owners and tuning history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tuning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Test fixtures yield expected alerts with bounded noise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Unreviewed rule floods analysts or misses known attacks</a:t>
            </a:r>
          </a:p>
        </p:txBody>
      </p:sp>
    </p:spTree>
  </p:cSld>
  <p:transition spd="fast">
    <p:fade/>
  </p:transition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Detection rule lifecycle: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rule_id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version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query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severity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threshold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Detection rule lifecycle: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358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Test fixtures yield expected alerts with bounded noise.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Behaviour anomaly score: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Feature Window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feature window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Baseline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baseline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Deviation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deviation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Score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score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Alert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alert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Combine identity-specific behavioural features</a:t>
            </a:r>
          </a:p>
        </p:txBody>
      </p:sp>
    </p:spTree>
  </p:cSld>
  <p:transition spd="fast">
    <p:fade/>
  </p:transition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Behaviour anomaly score: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feature window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Combine identity-specific behavioural features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alert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score≥0.80 opens an investigation in mock policy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Compromised agent stays within simple static limits</a:t>
            </a:r>
          </a:p>
        </p:txBody>
      </p:sp>
    </p:spTree>
  </p:cSld>
  <p:transition spd="fast">
    <p:fade/>
  </p:transition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Behaviour anomaly score: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361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tool_rate_z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new_destination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denied_ratio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step_count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Behaviour anomaly score: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score≥0.80 opens an investigation in mock policy.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Prompt-injection signals: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Input/Context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input/context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Detector Ensemble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detector ensemble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Policy Gate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policy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Trace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trace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Layer provenance, classifiers and action authorisation</a:t>
            </a:r>
          </a:p>
        </p:txBody>
      </p:sp>
    </p:spTree>
  </p:cSld>
  <p:transition spd="fast">
    <p:fade/>
  </p:transition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Prompt-injection signals: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input/context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Layer provenance, classifiers and action authorisation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High-risk signal plus sensitive action is blocked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Obfuscated injection bypasses one keyword filter</a:t>
            </a:r>
          </a:p>
        </p:txBody>
      </p:sp>
    </p:spTree>
  </p:cSld>
  <p:transition spd="fast">
    <p:fade/>
  </p:transition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Prompt-injection signals: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instruction_density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trust_mismatch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secret_request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override_phrase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Prompt-injection signals: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High-risk signal plus sensitive action is blocked.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Tool-sequence graph: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Tool Events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events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Directed Graph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directed graph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Rare Edge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rare edge model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Alert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alert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Detect unusual action chains and privileged transitions</a:t>
            </a:r>
          </a:p>
        </p:txBody>
      </p:sp>
    </p:spTree>
  </p:cSld>
  <p:transition spd="fast">
    <p:fade/>
  </p:transition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Tool-sequence graph: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tool events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Detect unusual action chains and privileged transitions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alert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Rare high-risk edge produces a correlated alert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Each call is allowed but the sequence is malicious</a:t>
            </a:r>
          </a:p>
        </p:txBody>
      </p:sp>
    </p:spTree>
  </p:cSld>
  <p:transition spd="fast">
    <p:fade/>
  </p:transition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Tool-sequence graph: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from_tool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to_tool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edge_count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baseline_prob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risk_weight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Tool-sequence graph: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Rare high-risk edge produces a correlated alert.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Data-egress detection: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Read Events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read events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Classification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classification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Outbound Events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outbound events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correlation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Correlate sensitive reads with outbound channels</a:t>
            </a:r>
          </a:p>
        </p:txBody>
      </p:sp>
    </p:spTree>
  </p:cSld>
  <p:transition spd="fast">
    <p:fade/>
  </p:transition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Data-egress detection: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read events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Correlate sensitive reads with outbound channels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correlation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Restricted-read + unknown-egress within 5 min alerts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reads restricted data then sends a small encoded payload</a:t>
            </a:r>
          </a:p>
        </p:txBody>
      </p:sp>
    </p:spTree>
  </p:cSld>
  <p:transition spd="fast">
    <p:fade/>
  </p:transition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Data-egress detection: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bytes_read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data_class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destination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bytes_out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time_delta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Data-egress detection: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Restricted-read + unknown-egress within 5 min alerts.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Secret-access anomaly: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Vault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vault access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Purpose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purpose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Tool 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call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Destination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destination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Baseline secret-to-tool relationships and deny mismatches</a:t>
            </a:r>
          </a:p>
        </p:txBody>
      </p:sp>
    </p:spTree>
  </p:cSld>
  <p:transition spd="fast">
    <p:fade/>
  </p:transition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Secret-access anomaly: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vault access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Baseline secret-to-tool relationships and deny mismatches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destination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Unexpected secret_ref/tool_id pair is denied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requests a secret unrelated to its normal tools</a:t>
            </a:r>
          </a:p>
        </p:txBody>
      </p:sp>
    </p:spTree>
  </p:cSld>
  <p:transition spd="fast">
    <p:fade/>
  </p:transition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Secret-access anomaly: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secret_ref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tool_id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reason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usual_for_agent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result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Secret-access anomaly: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Unexpected secret_ref/tool_id pair is denied.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drift: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3250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3392424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80260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Session Features Over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3136392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session features over time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6267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270248" y="1901952"/>
            <a:ext cx="3392424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104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2816352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Baseline Comparison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8264" y="3273552"/>
            <a:ext cx="3136392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baseline comparison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0416" y="1901952"/>
            <a:ext cx="3392424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4059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9288" y="2816352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Drift Signal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2" y="3273552"/>
            <a:ext cx="3136392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drift signal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Re-authorise when goal or capability footprint changes</a:t>
            </a:r>
          </a:p>
        </p:txBody>
      </p:sp>
    </p:spTree>
  </p:cSld>
  <p:transition spd="fast">
    <p:fade/>
  </p:transition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drift: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session features over time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Re-authorise when goal or capability footprint changes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drift signal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drift_score≥0.70 pauses before the next action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Long session gradually moves away from approved goal</a:t>
            </a:r>
          </a:p>
        </p:txBody>
      </p:sp>
    </p:spTree>
  </p:cSld>
  <p:transition spd="fast">
    <p:fade/>
  </p:transition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drift: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goal_hash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active_tools[]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destinations[]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step_count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drift_score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drift: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drift_score≥0.70 pauses before the next action.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Rate-limit control: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Identity Bucket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identity bucket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Tool Bucket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bucket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Destination Bucket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destination bucket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decision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Limit by agent, tenant, tool and destination</a:t>
            </a:r>
          </a:p>
        </p:txBody>
      </p:sp>
    </p:spTree>
  </p:cSld>
  <p:transition spd="fast">
    <p:fade/>
  </p:transition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Rate-limit control: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identity bucket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Limit by agent, tenant, tool and destination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decision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Load test produces 429/deny at configured thresholds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Distributed calls evade a single global counter</a:t>
            </a:r>
          </a:p>
        </p:txBody>
      </p:sp>
    </p:spTree>
  </p:cSld>
  <p:transition spd="fast">
    <p:fade/>
  </p:transition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Rate-limit control: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window_seconds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max_requests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current_count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retry_after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Rate-limit control: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Load test produces 429/deny at configured thresholds.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Budget alert: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Token/Tool Usage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token/tool usage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Cost Estimator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cost estimator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threshold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Circuit Breaker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circuit breaker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Warn at 70%, throttle at 90%, stop at 100% in mock policy</a:t>
            </a:r>
          </a:p>
        </p:txBody>
      </p:sp>
    </p:spTree>
  </p:cSld>
  <p:transition spd="fast">
    <p:fade/>
  </p:transition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Budget alert: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token/tool usage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Warn at 70%, throttle at 90%, stop at 100% in mock policy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circuit breaker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Budget breach stops new calls and preserves trace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Runaway planning consumes budget without operational alert</a:t>
            </a:r>
          </a:p>
        </p:txBody>
      </p:sp>
    </p:spTree>
  </p:cSld>
  <p:transition spd="fast">
    <p:fade/>
  </p:transition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Budget alert: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session_cost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daily_cost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warning_pct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hard_limit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Budget alert: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Budget breach stops new calls and preserves trace.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Allowlist denial: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Tool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proposal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Policy Lookup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policy lookup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deny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Audit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audit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User-Safe Response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user-safe response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Log denials with reason codes and correlate repetition</a:t>
            </a:r>
          </a:p>
        </p:txBody>
      </p:sp>
    </p:spTree>
  </p:cSld>
  <p:transition spd="fast">
    <p:fade/>
  </p:transition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Allowlist denial: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tool proposal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Log denials with reason codes and correlate repetition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user-safe response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Repeated deny_reason creates one deduplicated alert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Blocked action fails silently and attacker keeps probing</a:t>
            </a:r>
          </a:p>
        </p:txBody>
      </p:sp>
    </p:spTree>
  </p:cSld>
  <p:transition spd="fast">
    <p:fade/>
  </p:transition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Allowlist denial: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tool_id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policy_version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deny_reason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Allowlist denial: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Repeated deny_reason creates one deduplicated alert.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Approval timeout: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proposal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Approver Queue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approver queue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Timer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timer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Expire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expire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No Execution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no execution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Bind approval to action hash and expiry</a:t>
            </a:r>
          </a:p>
        </p:txBody>
      </p:sp>
    </p:spTree>
  </p:cSld>
  <p:transition spd="fast">
    <p:fade/>
  </p:transition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Approval timeout: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proposal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Bind approval to action hash and expiry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no execution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Expired or mismatched approval_id is rejected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Old approval is replayed after context changes</a:t>
            </a:r>
          </a:p>
        </p:txBody>
      </p:sp>
    </p:spTree>
  </p:cSld>
  <p:transition spd="fast">
    <p:fade/>
  </p:transition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Approval timeout: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approval_id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created_at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expires_at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reviewer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Approval timeout: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Expired or mismatched approval_id is rejected.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Alert triage: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399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Alert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alert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Enrichment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enrichment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scope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Confidence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confidence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Disposition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disposition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Require minimum enrichment and trace evidence</a:t>
            </a:r>
          </a:p>
        </p:txBody>
      </p:sp>
    </p:spTree>
  </p:cSld>
  <p:transition spd="fast">
    <p:fade/>
  </p:transition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Alert triage: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alert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 minimum enrichment and trace evidence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disposition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Disposition record cites the trace and decision rationale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Analyst closes alert without inspecting action chain</a:t>
            </a:r>
          </a:p>
        </p:txBody>
      </p:sp>
    </p:spTree>
  </p:cSld>
  <p:transition spd="fast">
    <p:fade/>
  </p:transition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Alert triage: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alert_id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evidence[]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affected_agents[]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severity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confidence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Alert triage: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Disposition record cites the trace and decision rationale.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Incident severity: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17420" y="3090672"/>
            <a:ext cx="237743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7271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Impact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impact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32503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55163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8780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4035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83179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scope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47588" y="3090672"/>
            <a:ext cx="237743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270248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0288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Data Class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98264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data class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66267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085332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17970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4204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Autonomy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3348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autonomy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77755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900415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33054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Persistence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28431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persistence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715499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24813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4372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Severity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3515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severity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Account for real-world actions and ongoing autonomy</a:t>
            </a:r>
          </a:p>
        </p:txBody>
      </p:sp>
    </p:spTree>
  </p:cSld>
  <p:transition spd="fast">
    <p:fade/>
  </p:transition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Incident severity: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impact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Account for real-world actions and ongoing autonomy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severity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SEV-1 criteria trigger executive and containment paths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incident is ranked like a low-impact chatbot error</a:t>
            </a:r>
          </a:p>
        </p:txBody>
      </p:sp>
    </p:spTree>
  </p:cSld>
  <p:transition spd="fast">
    <p:fade/>
  </p:transition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Incident severity: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agents_affected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data_class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external_effect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persistence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sev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Incident severity: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SEV-1 criteria trigger executive and containment paths.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Containment circuit breaker: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Soc Decision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SOC decision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Gateway Deny-All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gateway deny-all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Queue Drain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queue drain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Confirmation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confirmation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Verify control-plane and data-plane stop states</a:t>
            </a:r>
          </a:p>
        </p:txBody>
      </p:sp>
    </p:spTree>
  </p:cSld>
  <p:transition spd="fast">
    <p:fade/>
  </p:transition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Containment circuit breaker: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SOC decision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Verify control-plane and data-plane stop states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confirmation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No tool event occurs after effective_at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Containment request succeeds in UI but actions continue</a:t>
            </a:r>
          </a:p>
        </p:txBody>
      </p:sp>
    </p:spTree>
  </p:cSld>
  <p:transition spd="fast">
    <p:fade/>
  </p:transition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Containment circuit breaker: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incident_id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scope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initiated_by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effective_at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agents_stopped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Containment circuit breaker: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No tool event occurs after effective_at.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Token revocation: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Incident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incident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Identity Provider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identity provider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Revoke Session/Tokens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revoke session/tokens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Resource Deny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resource deny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Revoke tokens and enforce short TTL at resources</a:t>
            </a:r>
          </a:p>
        </p:txBody>
      </p:sp>
    </p:spTree>
  </p:cSld>
  <p:transition spd="fast">
    <p:fade/>
  </p:transition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Token revocation: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incident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Revoke tokens and enforce short TTL at resources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resource deny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Post-revocation access attempt returns deny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Disabled agent reuses an already-issued token</a:t>
            </a:r>
          </a:p>
        </p:txBody>
      </p:sp>
    </p:spTree>
  </p:cSld>
  <p:transition spd="fast">
    <p:fade/>
  </p:transition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Token revocation: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token_id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subject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audience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revoked_at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reason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Token revocation: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Post-revocation access attempt returns deny.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disablement: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Registry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registry status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Scheduler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scheduler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Runtime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runtime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Tool Gateway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tool gateway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Make scheduler and gateway consume authoritative status</a:t>
            </a:r>
          </a:p>
        </p:txBody>
      </p:sp>
    </p:spTree>
  </p:cSld>
  <p:transition spd="fast">
    <p:fade/>
  </p:transition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disablement: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registry status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Make scheduler and gateway consume authoritative status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tool gateway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Disabled agent cannot start or call tools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New worker starts after the incident</a:t>
            </a:r>
          </a:p>
        </p:txBody>
      </p:sp>
    </p:spTree>
  </p:cSld>
  <p:transition spd="fast">
    <p:fade/>
  </p:transition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disablement: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agent_id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disabled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version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reason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changed_by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Agent disablement: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Disabled agent cannot start or call tools.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Evidence preservation: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Volatile Session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volatile session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Snapshot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snapshot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Immutable Store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immutable store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Chain Of Custody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chain of custody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Snapshot prompts, memory, policies, logs and tool outputs</a:t>
            </a:r>
          </a:p>
        </p:txBody>
      </p:sp>
    </p:spTree>
  </p:cSld>
  <p:transition spd="fast">
    <p:fade/>
  </p:transition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Evidence preservation: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volatile session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Snapshot prompts, memory, policies, logs and tool outputs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chain of custody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Stored hash matches acquisition hash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Investigation changes or loses ephemeral context</a:t>
            </a:r>
          </a:p>
        </p:txBody>
      </p:sp>
    </p:spTree>
  </p:cSld>
  <p:transition spd="fast">
    <p:fade/>
  </p:transition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Evidence preservation: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evidence_id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source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collected_at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hash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collector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location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Evidence preservation: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Stored hash matches acquisition hash.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replay: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Ordered Events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ordered events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Versions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versions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Mock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mock tools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Deterministic Replay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deterministic replay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Replay with fixed artifacts and recorded tool outputs</a:t>
            </a:r>
          </a:p>
        </p:txBody>
      </p:sp>
    </p:spTree>
  </p:cSld>
  <p:transition spd="fast">
    <p:fade/>
  </p:transition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replay: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ordered events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Replay with fixed artifacts and recorded tool outputs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deterministic replay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Replay identifies the first policy divergence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Team cannot reproduce the malicious decision path</a:t>
            </a:r>
          </a:p>
        </p:txBody>
      </p:sp>
    </p:spTree>
  </p:cSld>
  <p:transition spd="fast">
    <p:fade/>
  </p:transition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replay: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trace_id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model_version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prompt_hash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tool_fixtures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outcome_diff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Session replay: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Replay identifies the first policy divergence.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Eradication: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Root Cause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root cause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Prompt/Policy/Tool Fix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prompt/policy/tool fix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Regression Tests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regression tests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Redeploy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redeploy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Tie eradication to tested artifact changes</a:t>
            </a:r>
          </a:p>
        </p:txBody>
      </p:sp>
    </p:spTree>
  </p:cSld>
  <p:transition spd="fast">
    <p:fade/>
  </p:transition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Eradication: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root cause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Tie eradication to tested artifact changes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redeploy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Original attack fixture fails after the fix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Agent returns with the same vulnerable configuration</a:t>
            </a:r>
          </a:p>
        </p:txBody>
      </p:sp>
    </p:spTree>
  </p:cSld>
  <p:transition spd="fast">
    <p:fade/>
  </p:transition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Eradication: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root_cause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changed_artifacts[]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tests[]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approver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release_id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Eradication: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Original attack fixture fails after the fix.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Recovery: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96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2648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Clean Release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clean release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4758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62706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9115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1578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Staged Enablement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0722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staged enablement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70214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085332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07174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4204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3348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monitoring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7958" y="1901952"/>
            <a:ext cx="2484882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9436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6830" y="2816352"/>
            <a:ext cx="224713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Normal Service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974" y="3273552"/>
            <a:ext cx="222885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normal service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Recover through canary stages with rollback thresholds</a:t>
            </a:r>
          </a:p>
        </p:txBody>
      </p:sp>
    </p:spTree>
  </p:cSld>
  <p:transition spd="fast">
    <p:fade/>
  </p:transition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Recovery: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clean release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Recover through canary stages with rollback thresholds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normal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Canary stays healthy for the defined observation window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Full fleet resumes before controls are proven</a:t>
            </a:r>
          </a:p>
        </p:txBody>
      </p:sp>
    </p:spTree>
  </p:cSld>
  <p:transition spd="fast">
    <p:fade/>
  </p:transition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Recovery: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release_id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canary_pct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health_metrics[]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rollback_threshold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control_6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explicit value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Reject if missing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Recovery: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Canary stays healthy for the defined observation window.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Lessons and metrics: architecture and control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NIST AI RMF · OWASP ASI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Incident Timeline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incident timeline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Control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control gaps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actions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Verification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verification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Trend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State and evidence for trend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Control objective: Require evidence-based closure and recurrence metrics</a:t>
            </a:r>
          </a:p>
        </p:txBody>
      </p:sp>
    </p:spTree>
  </p:cSld>
  <p:transition spd="fast">
    <p:fade/>
  </p:transition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Lessons and metrics: runtime decision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Supplied AI-security reference corpus · MITRE ATLAS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incident timeline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Correlate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trace_id + agent_id + policy_version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 evidence-based closure and recurrence metrics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trend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Action is closed only after the acceptance test passes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Failure to detect: Post-incident actions close administratively but not technically</a:t>
            </a:r>
          </a:p>
        </p:txBody>
      </p:sp>
    </p:spTree>
  </p:cSld>
  <p:transition spd="fast">
    <p:fade/>
  </p:transition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Lessons and metrics: concrete control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Executable teaching contract derived from the supplied course reference corpus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 / key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Expected value or type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Enforcement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field_1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lesson_id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control_gap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field_3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action_owner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due_date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field_5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validation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field_6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Required in decision and audit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Lessons and metrics: evidence and acceptance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Synthetic training evidence; values are illustrative, not external performance claims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713232" y="1572768"/>
          <a:ext cx="67208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754112" y="1700784"/>
            <a:ext cx="3346704" cy="391363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975104"/>
            <a:ext cx="2788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09C22"/>
                </a:solidFill>
                <a:latin typeface="Aptos"/>
              </a:rPr>
              <a:t>DECISION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432304"/>
            <a:ext cx="2788920" cy="13350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Aptos"/>
              </a:rPr>
              <a:t>Accept only when Action is closed only after the acceptance test passes. Otherwise record a gap, owner and due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4096512"/>
            <a:ext cx="27889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5B6776"/>
                </a:solidFill>
                <a:latin typeface="Aptos"/>
              </a:rPr>
              <a:t>EVIDENCE STATUS</a:t>
            </a:r>
          </a:p>
        </p:txBody>
      </p:sp>
      <p:sp>
        <p:nvSpPr>
          <p:cNvPr id="28" name="Oval 27"/>
          <p:cNvSpPr/>
          <p:nvPr/>
        </p:nvSpPr>
        <p:spPr>
          <a:xfrm>
            <a:off x="8805672" y="4517136"/>
            <a:ext cx="1124712" cy="1124712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PASS</a:t>
            </a:r>
          </a:p>
        </p:txBody>
      </p:sp>
    </p:spTree>
  </p:cSld>
  <p:transition spd="fast">
    <p:fade/>
  </p:transition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A7 · 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08 — Detect Suspicious Agent Behaviour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folder and synthetic mock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synthetic data in activity-08-agent-detection to make a security-operations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mock_events.jsonl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Runnable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activity.py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Output artifact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detections.json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Acceptance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The detector finds abnormal tool rates, new destinations, blocked actions and sensitive-read/egress chains.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 boundary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Offline simulation only; no live credentials, systems or external services.</a:t>
            </a:r>
          </a:p>
        </p:txBody>
      </p:sp>
    </p:spTree>
  </p:cSld>
  <p:transition spd="fast">
    <p:fade/>
  </p:transition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A7 · PRACTICE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08: mechanism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design; complete procedure is in the Learner Guide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mock_events.jsonl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required fields and types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and decision rules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Produce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detections.json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The detector finds abnormal tool rates, new destinations, blocked actions and sensitive-read/egress chains.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The PPT shows the mechanism and evidence path; the click-by-click procedure remains in the Learner Guide.</a:t>
            </a:r>
          </a:p>
        </p:txBody>
      </p:sp>
    </p:spTree>
  </p:cSld>
  <p:transition spd="fast">
    <p:fade/>
  </p:transition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A7 ·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08: evidence artifact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files in labs/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Concrete artifact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Verification purpose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mock_events.jsonl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Synthetic source supplied in the activity folder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Processor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activity.py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Python 3 standard library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detections.json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Generated locally and reproducible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Maps directly to the practical assessment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PASS or treatment 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Must reconcile with mock values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Cleanup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Delete detections.json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Retain script and mock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A7 · 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09 — Contain a Prompt-Injection Incident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folder and synthetic mock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synthetic data in activity-09-prompt-injection-response to make a security-operations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mock_incident.json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Runnable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activity.py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Output artifact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containment_record.json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Acceptance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The record proves agent disablement, token revocation, egress block and evidence preservation in the correct order.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 boundary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Offline simulation only; no live credentials, systems or external services.</a:t>
            </a:r>
          </a:p>
        </p:txBody>
      </p:sp>
    </p:spTree>
  </p:cSld>
  <p:transition spd="fast">
    <p:fade/>
  </p:transition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A7 · PRACTICE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09: mechanism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design; complete procedure is in the Learner Guide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mock_incident.json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required fields and types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and decision rules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Produce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containment_record.json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The record proves agent disablement, token revocation, egress block and evidence preservation in the correct order.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The PPT shows the mechanism and evidence path; the click-by-click procedure remains in the Learner Guide.</a:t>
            </a:r>
          </a:p>
        </p:txBody>
      </p:sp>
    </p:spTree>
  </p:cSld>
  <p:transition spd="fast">
    <p:fade/>
  </p:transition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A7 ·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09: evidence artifact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files in labs/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Concrete artifact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Verification purpose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mock_incident.json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Synthetic source supplied in the activity folder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Processor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activity.py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Python 3 standard library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containment_record.json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Generated locally and reproducible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Maps directly to the practical assessment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PASS or treatment 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Must reconcile with mock values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Cleanup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Delete containment_record.json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Retain script and mock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A7 · 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10 — Run Recovery and Post-Incident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folder and synthetic mock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Scenario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synthetic data in activity-10-recovery-tabletop to make a security-operations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Input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mock_recovery.json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Runnable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activity.py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Output artifact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after_action_report.md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Acceptance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Recovery gates, rollback criteria, lessons, owners and acceptance tests are complete.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Safety boundary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Offline simulation only; no live credentials, systems or external services.</a:t>
            </a:r>
          </a:p>
        </p:txBody>
      </p:sp>
    </p:spTree>
  </p:cSld>
  <p:transition spd="fast">
    <p:fade/>
  </p:transition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A7 · PRACTICE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10: mechanism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design; complete procedure is in the Learner Guide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80436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422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mock_recovery.json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58537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8180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323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7052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196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required fields and types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6638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996281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0427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5153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4297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control and decision rules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14739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74382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8852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3254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Produce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2398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after_action_report.md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52483" y="1901952"/>
            <a:ext cx="1940356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66629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1355" y="2816352"/>
            <a:ext cx="1702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Verify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0499" y="3273552"/>
            <a:ext cx="1684324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Recovery gates, rollback criteria, lessons, owners and acceptance tests are complete.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The PPT shows the mechanism and evidence path; the click-by-click procedure remains in the Learner Guide.</a:t>
            </a:r>
          </a:p>
        </p:txBody>
      </p:sp>
    </p:spTree>
  </p:cSld>
  <p:transition spd="fast">
    <p:fade/>
  </p:transition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A7 · EXPECTED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Activity 10: evidence artifact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Aligned activity files in labs/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1572768"/>
          <a:ext cx="105613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5303520"/>
              </a:tblGrid>
              <a:tr h="620485"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Concrete artifact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Verification purpose</a:t>
                      </a:r>
                    </a:p>
                  </a:txBody>
                  <a:tcPr marL="91440" marR="91440" marT="45720" marB="45720">
                    <a:solidFill>
                      <a:srgbClr val="F09C22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mock_recovery.json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Synthetic source supplied in the activity folder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Processor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activity.py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Python 3 standard library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after_action_report.md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Generated locally and reproducible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A7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Maps directly to the practical assessment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PASS or treatment action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Must reconcile with mock values</a:t>
                      </a:r>
                    </a:p>
                  </a:txBody>
                  <a:tcPr marL="91440" marR="91440" marT="45720" marB="45720">
                    <a:solidFill>
                      <a:srgbClr val="F4F8FA"/>
                    </a:solidFill>
                  </a:tcPr>
                </a:tc>
              </a:tr>
              <a:tr h="620490">
                <a:tc>
                  <a:txBody>
                    <a:bodyPr wrap="square" anchor="ctr"/>
                    <a:lstStyle/>
                    <a:p>
                      <a:r>
                        <a:rPr sz="1100" b="1">
                          <a:solidFill>
                            <a:srgbClr val="152335"/>
                          </a:solidFill>
                          <a:latin typeface="Aptos"/>
                        </a:rPr>
                        <a:t>Cleanup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Delete after_action_report.md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100" b="0">
                          <a:solidFill>
                            <a:srgbClr val="152335"/>
                          </a:solidFill>
                          <a:latin typeface="Aptos"/>
                        </a:rPr>
                        <a:t>Retain script and mock 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Oval 23"/>
          <p:cNvSpPr/>
          <p:nvPr/>
        </p:nvSpPr>
        <p:spPr>
          <a:xfrm>
            <a:off x="384048" y="2084831"/>
            <a:ext cx="146304" cy="146304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139696"/>
            <a:ext cx="137160" cy="27432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2670048"/>
            <a:ext cx="146304" cy="146304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2724912"/>
            <a:ext cx="137160" cy="27432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3255263"/>
            <a:ext cx="146304" cy="146304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3310128"/>
            <a:ext cx="137160" cy="27432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3840479"/>
            <a:ext cx="146304" cy="14630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3895344"/>
            <a:ext cx="137160" cy="27432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048" y="4425696"/>
            <a:ext cx="146304" cy="146304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4480560"/>
            <a:ext cx="137160" cy="27432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4048" y="5010912"/>
            <a:ext cx="146304" cy="146304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8600" y="5065776"/>
            <a:ext cx="137160" cy="27432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fast">
    <p:fade/>
  </p:transition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LO4 · K7,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Topic 04 technical recap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Topic technical-anchor inventory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Agent disablement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Disabled agent cannot start or call tools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Evidence preservation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Stored hash matches acquisition hash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Session replay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Replay identifies the first policy divergence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Eradication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Original attack fixture fails after the fix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Recovery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Canary stays healthy for the defined observation window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Lessons and metrics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Action is closed only after the acceptance test passes</a:t>
            </a:r>
          </a:p>
        </p:txBody>
      </p:sp>
    </p:spTree>
  </p:cSld>
  <p:transition spd="fast">
    <p:fade/>
  </p:transition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ic-04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46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80160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00898B"/>
                </a:solidFill>
                <a:latin typeface="Aptos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47088"/>
            <a:ext cx="5440680" cy="1920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3500" b="1">
                <a:solidFill>
                  <a:srgbClr val="0B1F33"/>
                </a:solidFill>
                <a:latin typeface="Aptos"/>
              </a:rPr>
              <a:t>From strategy to resilient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257800" cy="11704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5B6776"/>
                </a:solidFill>
                <a:latin typeface="Aptos"/>
              </a:rPr>
              <a:t>Goals → policy → risk → telemetry → containment → recovery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449</a:t>
            </a:r>
          </a:p>
        </p:txBody>
      </p:sp>
    </p:spTree>
  </p:cSld>
  <p:transition spd="fast">
    <p:push/>
  </p:transition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What you can now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Official current course outcomes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LO1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Formulate comprehensive security goals and establish business standards with an overarching security vision for autonomous AI agents.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LO2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Communicate effective agent-security policies and practices, and manage compliance with best practices and technological advancements.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LO3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Evaluate existing agent-security controls against business risks and costs, and develop strategies to resolve identified security gaps.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LO4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Implement organisation-wide agent-security initiatives, assessing and addressing the impact of security gaps.</a:t>
            </a:r>
          </a:p>
        </p:txBody>
      </p:sp>
    </p:spTree>
  </p:cSld>
  <p:transition spd="fast">
    <p:fade/>
  </p:transition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CLOSING BLOCK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Assessment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Verified legacy assessment mapping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WA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7 open-ended questions · K1–K7 · 1 hour.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6 practical tasks · A1–A7 · 3 hours.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Submission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Upload completed answers to lms-tms.tertiaryinfotech.com.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Materials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Use the approved slides, Learner Guide and activity files.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Outputs must reconcile with the supplied mock data.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Privacy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Answer keys remain trainer-only.</a:t>
            </a:r>
          </a:p>
        </p:txBody>
      </p:sp>
    </p:spTree>
  </p:cSld>
  <p:transition spd="fast">
    <p:fade/>
  </p:transition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F09C22"/>
                </a:solidFill>
                <a:latin typeface="Aptos"/>
              </a:rPr>
              <a:t>CLOSING BLOCK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Assessment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F09C22"/>
                </a:solidFill>
                <a:latin typeface="Aptos"/>
              </a:rPr>
              <a:t>452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WSQ assessment workflow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17420" y="3090672"/>
            <a:ext cx="237743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7271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TRAQOM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Survey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32503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55163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87801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4035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Attendance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83179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Assessment QR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47588" y="3090672"/>
            <a:ext cx="237743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270248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02886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98264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Knowledge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662672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085332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17970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4204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3348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Ability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77755" y="3090672"/>
            <a:ext cx="237744" cy="0"/>
          </a:xfrm>
          <a:prstGeom prst="line">
            <a:avLst/>
          </a:prstGeom>
          <a:ln w="25400">
            <a:solidFill>
              <a:srgbClr val="F09C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900415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33054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Submit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28431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LMS/TMS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715499" y="1901952"/>
            <a:ext cx="1577339" cy="2359152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248138" y="2121408"/>
            <a:ext cx="512064" cy="512064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4372" y="2816352"/>
            <a:ext cx="1339595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09C22"/>
                </a:solidFill>
                <a:latin typeface="Aptos"/>
              </a:rPr>
              <a:t>Sign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3515" y="3273552"/>
            <a:ext cx="1321307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0">
                <a:solidFill>
                  <a:srgbClr val="152335"/>
                </a:solidFill>
                <a:latin typeface="Aptos"/>
              </a:rPr>
              <a:t>Sign Assessment Summary Record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4608576"/>
            <a:ext cx="10442448" cy="868680"/>
          </a:xfrm>
          <a:prstGeom prst="roundRect">
            <a:avLst/>
          </a:prstGeom>
          <a:solidFill>
            <a:srgbClr val="E9F7F5"/>
          </a:solidFill>
          <a:ln w="10160">
            <a:solidFill>
              <a:srgbClr val="0089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" y="4791456"/>
            <a:ext cx="998524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Aptos"/>
              </a:rPr>
              <a:t>Complete the full sequence and retain submission evidence.</a:t>
            </a:r>
          </a:p>
        </p:txBody>
      </p:sp>
    </p:spTree>
  </p:cSld>
  <p:transition spd="fast">
    <p:fade/>
  </p:transition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CLOSING BLOCK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Digital attendance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WSQ course administration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1536192"/>
            <a:ext cx="73152" cy="119786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" y="1719072"/>
            <a:ext cx="384048" cy="3840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898B"/>
                </a:solidFill>
                <a:latin typeface="Aptos"/>
              </a:rPr>
              <a:t>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Recorded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53619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5" y="1536192"/>
            <a:ext cx="73152" cy="1197864"/>
          </a:xfrm>
          <a:prstGeom prst="rect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64223" y="1719072"/>
            <a:ext cx="384048" cy="384048"/>
          </a:xfrm>
          <a:prstGeom prst="ellipse">
            <a:avLst/>
          </a:prstGeom>
          <a:solidFill>
            <a:srgbClr val="00B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70992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00B8D4"/>
                </a:solidFill>
                <a:latin typeface="Aptos"/>
              </a:rPr>
              <a:t>PM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10312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Recorded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2999232"/>
            <a:ext cx="73152" cy="1197864"/>
          </a:xfrm>
          <a:prstGeom prst="rect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3182112"/>
            <a:ext cx="384048" cy="384048"/>
          </a:xfrm>
          <a:prstGeom prst="ellipse">
            <a:avLst/>
          </a:prstGeom>
          <a:solidFill>
            <a:srgbClr val="6D4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6D4AC9"/>
                </a:solidFill>
                <a:latin typeface="Aptos"/>
              </a:rPr>
              <a:t>Assessment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Recorded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3055" y="299923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63055" y="2999232"/>
            <a:ext cx="73152" cy="1197864"/>
          </a:xfrm>
          <a:prstGeom prst="rect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3" y="3182112"/>
            <a:ext cx="384048" cy="384048"/>
          </a:xfrm>
          <a:prstGeom prst="ellipse">
            <a:avLst/>
          </a:prstGeom>
          <a:solidFill>
            <a:srgbClr val="F09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17296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F09C22"/>
                </a:solidFill>
                <a:latin typeface="Aptos"/>
              </a:rPr>
              <a:t>Minimum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56616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75%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462272"/>
            <a:ext cx="73152" cy="1197864"/>
          </a:xfrm>
          <a:prstGeom prst="rect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E65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65C55"/>
                </a:solidFill>
                <a:latin typeface="Aptos"/>
              </a:rPr>
              <a:t>Failure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Tell trainer immediately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5" y="4462272"/>
            <a:ext cx="5257800" cy="1197864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5" y="4462272"/>
            <a:ext cx="73152" cy="1197864"/>
          </a:xfrm>
          <a:prstGeom prst="rect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4223" y="4645152"/>
            <a:ext cx="384048" cy="384048"/>
          </a:xfrm>
          <a:prstGeom prst="ellipse">
            <a:avLst/>
          </a:prstGeom>
          <a:solidFill>
            <a:srgbClr val="209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4636008"/>
            <a:ext cx="4361688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209A69"/>
                </a:solidFill>
                <a:latin typeface="Aptos"/>
              </a:rPr>
              <a:t>Evidence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029200"/>
            <a:ext cx="4343400" cy="4846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152335"/>
                </a:solidFill>
                <a:latin typeface="Aptos"/>
              </a:rPr>
              <a:t>Successful confirmation screen</a:t>
            </a:r>
          </a:p>
        </p:txBody>
      </p:sp>
    </p:spTree>
  </p:cSld>
  <p:transition spd="fast">
    <p:fade/>
  </p:transition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789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1">
                <a:solidFill>
                  <a:srgbClr val="00898B"/>
                </a:solidFill>
                <a:latin typeface="Aptos"/>
              </a:rPr>
              <a:t>CLOSING BLOCK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52760" cy="7132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900" b="1">
                <a:solidFill>
                  <a:srgbClr val="152335"/>
                </a:solidFill>
                <a:latin typeface="Aptos"/>
              </a:rPr>
              <a:t>Thank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39728" y="1188720"/>
            <a:ext cx="219456" cy="4709160"/>
          </a:xfrm>
          <a:prstGeom prst="roundRect">
            <a:avLst/>
          </a:prstGeom>
          <a:solidFill>
            <a:srgbClr val="F4F8FA"/>
          </a:solidFill>
          <a:ln w="10160">
            <a:solidFill>
              <a:srgbClr val="DA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1732" y="1417320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2607" y="147218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1732" y="2167128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22607" y="2221992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1732" y="2916936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22607" y="2971800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71732" y="3666744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22607" y="3721608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1732" y="4416552"/>
            <a:ext cx="155448" cy="155448"/>
          </a:xfrm>
          <a:prstGeom prst="ellipse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22607" y="4471416"/>
            <a:ext cx="91440" cy="32004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71732" y="5166359"/>
            <a:ext cx="155448" cy="155448"/>
          </a:xfrm>
          <a:prstGeom prst="ellipse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22607" y="5221224"/>
            <a:ext cx="91440" cy="32004"/>
          </a:xfrm>
          <a:prstGeom prst="rect">
            <a:avLst/>
          </a:prstGeom>
          <a:solidFill>
            <a:srgbClr val="00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6345936"/>
            <a:ext cx="11082528" cy="13716"/>
          </a:xfrm>
          <a:prstGeom prst="rect">
            <a:avLst/>
          </a:prstGeom>
          <a:solidFill>
            <a:srgbClr val="DA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035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50" b="0">
                <a:solidFill>
                  <a:srgbClr val="5B6776"/>
                </a:solidFill>
                <a:latin typeface="Aptos"/>
              </a:rPr>
              <a:t>Security Operations for Autonomous AI Agents · TGS-2024042604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00800"/>
            <a:ext cx="42062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850" b="0">
                <a:solidFill>
                  <a:srgbClr val="5B6776"/>
                </a:solidFill>
                <a:latin typeface="Aptos"/>
              </a:rPr>
              <a:t>© 2026 Tertiary Infotech Academy Pte Ltd · UEN 201200696W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82512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900" b="1">
                <a:solidFill>
                  <a:srgbClr val="00898B"/>
                </a:solidFill>
                <a:latin typeface="Aptos"/>
              </a:rPr>
              <a:t>454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26480"/>
            <a:ext cx="106527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8A94A3"/>
                </a:solidFill>
                <a:latin typeface="Aptos"/>
              </a:rPr>
              <a:t>Course conclusion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1965960"/>
            <a:ext cx="9921240" cy="10972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3100" b="1">
                <a:solidFill>
                  <a:srgbClr val="0B1F33"/>
                </a:solidFill>
                <a:latin typeface="Aptos"/>
              </a:rPr>
              <a:t>Secure autonomy is an operating capability—designed, measured, rehearsed and improved.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3822191"/>
            <a:ext cx="868680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00898B"/>
                </a:solidFill>
                <a:latin typeface="Aptos"/>
              </a:rPr>
              <a:t>enquiry@tertiaryinfotech.com · +65 6100 0613 · tertiarycourses.com.sg</a:t>
            </a:r>
          </a:p>
        </p:txBody>
      </p:sp>
    </p:spTree>
  </p:cSld>
  <p:transition spd="fast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